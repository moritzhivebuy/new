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theme" Target="theme/theme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hivebuy.com/kontak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0" cy="6858000"/>
          </a:xfrm>
          <a:prstGeom prst="rect">
            <a:avLst/>
          </a:prstGeom>
          <a:solidFill>
            <a:srgbClr val="20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1F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4000" y="1512000"/>
            <a:ext cx="10824120" cy="360000"/>
          </a:xfrm>
          <a:prstGeom prst="rect">
            <a:avLst/>
          </a:prstGeom>
          <a:noFill/>
        </p:spPr>
        <p:txBody>
          <a:bodyPr wrap="square" lIns="0" rIns="0" tIns="0" bIns="0">
            <a:spAutoFit/>
          </a:bodyPr>
          <a:lstStyle/>
          <a:p>
            <a:pPr>
              <a:lnSpc>
                <a:spcPct val="125000"/>
              </a:lnSpc>
              <a:spcBef>
                <a:spcPts val="0"/>
              </a:spcBef>
              <a:spcAft>
                <a:spcPts val="0"/>
              </a:spcAft>
            </a:pPr>
            <a:r>
              <a:rPr sz="1300" b="1">
                <a:solidFill>
                  <a:srgbClr val="F1FF45"/>
                </a:solidFill>
                <a:latin typeface="DM Sans"/>
              </a:rPr>
              <a:t>IMPACT LADDER</a:t>
            </a:r>
          </a:p>
        </p:txBody>
      </p:sp>
      <p:sp>
        <p:nvSpPr>
          <p:cNvPr id="5" name="TextBox 4"/>
          <p:cNvSpPr txBox="1"/>
          <p:nvPr/>
        </p:nvSpPr>
        <p:spPr>
          <a:xfrm>
            <a:off x="684000" y="2016000"/>
            <a:ext cx="8640000" cy="2160000"/>
          </a:xfrm>
          <a:prstGeom prst="rect">
            <a:avLst/>
          </a:prstGeom>
          <a:noFill/>
        </p:spPr>
        <p:txBody>
          <a:bodyPr wrap="square" lIns="0" rIns="0" tIns="0" bIns="0">
            <a:spAutoFit/>
          </a:bodyPr>
          <a:lstStyle/>
          <a:p>
            <a:pPr>
              <a:lnSpc>
                <a:spcPct val="110000"/>
              </a:lnSpc>
              <a:spcBef>
                <a:spcPts val="0"/>
              </a:spcBef>
              <a:spcAft>
                <a:spcPts val="0"/>
              </a:spcAft>
            </a:pPr>
            <a:r>
              <a:rPr sz="4000" b="0">
                <a:solidFill>
                  <a:srgbClr val="FFFFFF"/>
                </a:solidFill>
                <a:latin typeface="Frank Ruhl Libre"/>
              </a:rPr>
              <a:t>Was Hivebuy für Sarstedt bewirkt</a:t>
            </a:r>
          </a:p>
        </p:txBody>
      </p:sp>
      <p:sp>
        <p:nvSpPr>
          <p:cNvPr id="6" name="TextBox 5"/>
          <p:cNvSpPr txBox="1"/>
          <p:nvPr/>
        </p:nvSpPr>
        <p:spPr>
          <a:xfrm>
            <a:off x="684000" y="4464000"/>
            <a:ext cx="8640000" cy="864000"/>
          </a:xfrm>
          <a:prstGeom prst="rect">
            <a:avLst/>
          </a:prstGeom>
          <a:noFill/>
        </p:spPr>
        <p:txBody>
          <a:bodyPr wrap="square" lIns="0" rIns="0" tIns="0" bIns="0">
            <a:spAutoFit/>
          </a:bodyPr>
          <a:lstStyle/>
          <a:p>
            <a:pPr>
              <a:lnSpc>
                <a:spcPct val="125000"/>
              </a:lnSpc>
              <a:spcBef>
                <a:spcPts val="0"/>
              </a:spcBef>
              <a:spcAft>
                <a:spcPts val="0"/>
              </a:spcAft>
            </a:pPr>
            <a:r>
              <a:rPr sz="1400" b="0">
                <a:solidFill>
                  <a:srgbClr val="FFFFFF"/>
                </a:solidFill>
                <a:latin typeface="DM Sans"/>
              </a:rPr>
              <a:t>Erstellt für Joschka Marx</a:t>
            </a:r>
          </a:p>
          <a:p>
            <a:pPr>
              <a:lnSpc>
                <a:spcPct val="125000"/>
              </a:lnSpc>
              <a:spcBef>
                <a:spcPts val="300"/>
              </a:spcBef>
              <a:spcAft>
                <a:spcPts val="0"/>
              </a:spcAft>
            </a:pPr>
            <a:r>
              <a:rPr sz="1400" b="0">
                <a:solidFill>
                  <a:srgbClr val="FFFFFF"/>
                </a:solidFill>
                <a:latin typeface="DM Sans"/>
              </a:rPr>
              <a:t>Basierend auf unserem Gespräch am 10.09.2026</a:t>
            </a:r>
          </a:p>
          <a:p>
            <a:pPr>
              <a:lnSpc>
                <a:spcPct val="125000"/>
              </a:lnSpc>
              <a:spcBef>
                <a:spcPts val="300"/>
              </a:spcBef>
              <a:spcAft>
                <a:spcPts val="0"/>
              </a:spcAft>
            </a:pPr>
            <a:r>
              <a:rPr sz="1200" b="0">
                <a:solidFill>
                  <a:srgbClr val="E3E9E7"/>
                </a:solidFill>
                <a:latin typeface="DM Sans"/>
              </a:rPr>
              <a:t>Stand: 10.09.2026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0" cy="6858000"/>
          </a:xfrm>
          <a:prstGeom prst="rect">
            <a:avLst/>
          </a:prstGeom>
          <a:solidFill>
            <a:srgbClr val="FBF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576000"/>
            <a:ext cx="10824120" cy="288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228C7D"/>
                </a:solidFill>
                <a:latin typeface="DM Sans"/>
              </a:rPr>
              <a:t>AKTUELLE OPTIMIERUNGSPOTENZIALE</a:t>
            </a:r>
          </a:p>
        </p:txBody>
      </p:sp>
      <p:sp>
        <p:nvSpPr>
          <p:cNvPr id="4" name="Rounded Rectangle 3"/>
          <p:cNvSpPr/>
          <p:nvPr/>
        </p:nvSpPr>
        <p:spPr>
          <a:xfrm>
            <a:off x="684000" y="972000"/>
            <a:ext cx="10824120" cy="1044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84000" y="972000"/>
            <a:ext cx="57600" cy="1044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6000" y="1170000"/>
            <a:ext cx="10320120" cy="684000"/>
          </a:xfrm>
          <a:prstGeom prst="rect">
            <a:avLst/>
          </a:prstGeom>
          <a:noFill/>
        </p:spPr>
        <p:txBody>
          <a:bodyPr wrap="square" lIns="0" rIns="0" tIns="0" bIns="0">
            <a:spAutoFit/>
          </a:bodyPr>
          <a:lstStyle/>
          <a:p>
            <a:pPr>
              <a:lnSpc>
                <a:spcPct val="125000"/>
              </a:lnSpc>
              <a:spcBef>
                <a:spcPts val="0"/>
              </a:spcBef>
              <a:spcAft>
                <a:spcPts val="0"/>
              </a:spcAft>
            </a:pPr>
            <a:r>
              <a:rPr sz="1600" b="1">
                <a:solidFill>
                  <a:srgbClr val="204540"/>
                </a:solidFill>
                <a:latin typeface="DM Sans"/>
              </a:rPr>
              <a:t>Angebotspositionen werden von Hand eingetippt</a:t>
            </a:r>
          </a:p>
          <a:p>
            <a:pPr>
              <a:lnSpc>
                <a:spcPct val="125000"/>
              </a:lnSpc>
              <a:spcBef>
                <a:spcPts val="400"/>
              </a:spcBef>
              <a:spcAft>
                <a:spcPts val="0"/>
              </a:spcAft>
            </a:pPr>
            <a:r>
              <a:rPr sz="1300" b="0">
                <a:solidFill>
                  <a:srgbClr val="3E5B56"/>
                </a:solidFill>
                <a:latin typeface="DM Sans"/>
              </a:rPr>
              <a:t>Dienstleistungsangebote als PDF verarbeitet der Einkauf manuell.</a:t>
            </a:r>
          </a:p>
        </p:txBody>
      </p:sp>
      <p:sp>
        <p:nvSpPr>
          <p:cNvPr id="7" name="Rounded Rectangle 6"/>
          <p:cNvSpPr/>
          <p:nvPr/>
        </p:nvSpPr>
        <p:spPr>
          <a:xfrm>
            <a:off x="684000" y="2232000"/>
            <a:ext cx="10824120" cy="1044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4000" y="2232000"/>
            <a:ext cx="57600" cy="1044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6000" y="2430000"/>
            <a:ext cx="10320120" cy="684000"/>
          </a:xfrm>
          <a:prstGeom prst="rect">
            <a:avLst/>
          </a:prstGeom>
          <a:noFill/>
        </p:spPr>
        <p:txBody>
          <a:bodyPr wrap="square" lIns="0" rIns="0" tIns="0" bIns="0">
            <a:spAutoFit/>
          </a:bodyPr>
          <a:lstStyle/>
          <a:p>
            <a:pPr>
              <a:lnSpc>
                <a:spcPct val="125000"/>
              </a:lnSpc>
              <a:spcBef>
                <a:spcPts val="0"/>
              </a:spcBef>
              <a:spcAft>
                <a:spcPts val="0"/>
              </a:spcAft>
            </a:pPr>
            <a:r>
              <a:rPr sz="1600" b="1">
                <a:solidFill>
                  <a:srgbClr val="204540"/>
                </a:solidFill>
                <a:latin typeface="DM Sans"/>
              </a:rPr>
              <a:t>Nicht gelistete Shops nur über den Mittelsmann</a:t>
            </a:r>
          </a:p>
          <a:p>
            <a:pPr>
              <a:lnSpc>
                <a:spcPct val="125000"/>
              </a:lnSpc>
              <a:spcBef>
                <a:spcPts val="400"/>
              </a:spcBef>
              <a:spcAft>
                <a:spcPts val="0"/>
              </a:spcAft>
            </a:pPr>
            <a:r>
              <a:rPr sz="1300" b="0">
                <a:solidFill>
                  <a:srgbClr val="3E5B56"/>
                </a:solidFill>
                <a:latin typeface="DM Sans"/>
              </a:rPr>
              <a:t>Der Systemlieferant beschafft sie gegen rund 10 Prozent Aufschlag.</a:t>
            </a:r>
          </a:p>
        </p:txBody>
      </p:sp>
      <p:sp>
        <p:nvSpPr>
          <p:cNvPr id="10" name="Rounded Rectangle 9"/>
          <p:cNvSpPr/>
          <p:nvPr/>
        </p:nvSpPr>
        <p:spPr>
          <a:xfrm>
            <a:off x="684000" y="3492000"/>
            <a:ext cx="10824120" cy="1044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4000" y="3492000"/>
            <a:ext cx="57600" cy="1044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6000" y="3690000"/>
            <a:ext cx="10320120" cy="684000"/>
          </a:xfrm>
          <a:prstGeom prst="rect">
            <a:avLst/>
          </a:prstGeom>
          <a:noFill/>
        </p:spPr>
        <p:txBody>
          <a:bodyPr wrap="square" lIns="0" rIns="0" tIns="0" bIns="0">
            <a:spAutoFit/>
          </a:bodyPr>
          <a:lstStyle/>
          <a:p>
            <a:pPr>
              <a:lnSpc>
                <a:spcPct val="125000"/>
              </a:lnSpc>
              <a:spcBef>
                <a:spcPts val="0"/>
              </a:spcBef>
              <a:spcAft>
                <a:spcPts val="0"/>
              </a:spcAft>
            </a:pPr>
            <a:r>
              <a:rPr sz="1600" b="1">
                <a:solidFill>
                  <a:srgbClr val="204540"/>
                </a:solidFill>
                <a:latin typeface="DM Sans"/>
              </a:rPr>
              <a:t>OCI-Shops liegen noch in SAP</a:t>
            </a:r>
          </a:p>
          <a:p>
            <a:pPr>
              <a:lnSpc>
                <a:spcPct val="125000"/>
              </a:lnSpc>
              <a:spcBef>
                <a:spcPts val="400"/>
              </a:spcBef>
              <a:spcAft>
                <a:spcPts val="0"/>
              </a:spcAft>
            </a:pPr>
            <a:r>
              <a:rPr sz="1300" b="0">
                <a:solidFill>
                  <a:srgbClr val="3E5B56"/>
                </a:solidFill>
                <a:latin typeface="DM Sans"/>
              </a:rPr>
              <a:t>Bis zur Migration müssen Mitarbeitende zwei Systeme kennen.</a:t>
            </a:r>
          </a:p>
        </p:txBody>
      </p:sp>
      <p:sp>
        <p:nvSpPr>
          <p:cNvPr id="13" name="Rounded Rectangle 12"/>
          <p:cNvSpPr/>
          <p:nvPr/>
        </p:nvSpPr>
        <p:spPr>
          <a:xfrm>
            <a:off x="684000" y="4752000"/>
            <a:ext cx="10824120" cy="1044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84000" y="4752000"/>
            <a:ext cx="57600" cy="1044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6000" y="4950000"/>
            <a:ext cx="10320120" cy="684000"/>
          </a:xfrm>
          <a:prstGeom prst="rect">
            <a:avLst/>
          </a:prstGeom>
          <a:noFill/>
        </p:spPr>
        <p:txBody>
          <a:bodyPr wrap="square" lIns="0" rIns="0" tIns="0" bIns="0">
            <a:spAutoFit/>
          </a:bodyPr>
          <a:lstStyle/>
          <a:p>
            <a:pPr>
              <a:lnSpc>
                <a:spcPct val="125000"/>
              </a:lnSpc>
              <a:spcBef>
                <a:spcPts val="0"/>
              </a:spcBef>
              <a:spcAft>
                <a:spcPts val="0"/>
              </a:spcAft>
            </a:pPr>
            <a:r>
              <a:rPr sz="1600" b="1">
                <a:solidFill>
                  <a:srgbClr val="204540"/>
                </a:solidFill>
                <a:latin typeface="DM Sans"/>
              </a:rPr>
              <a:t>Orientierung wächst mit jedem Shop</a:t>
            </a:r>
          </a:p>
          <a:p>
            <a:pPr>
              <a:lnSpc>
                <a:spcPct val="125000"/>
              </a:lnSpc>
              <a:spcBef>
                <a:spcPts val="400"/>
              </a:spcBef>
              <a:spcAft>
                <a:spcPts val="0"/>
              </a:spcAft>
            </a:pPr>
            <a:r>
              <a:rPr sz="1300" b="0">
                <a:solidFill>
                  <a:srgbClr val="3E5B56"/>
                </a:solidFill>
                <a:latin typeface="DM Sans"/>
              </a:rPr>
              <a:t>Je mehr Shops angebunden sind, desto mehr Wissen ist nötig.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0" cy="6858000"/>
          </a:xfrm>
          <a:prstGeom prst="rect">
            <a:avLst/>
          </a:prstGeom>
          <a:solidFill>
            <a:srgbClr val="FBF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576000"/>
            <a:ext cx="10824120" cy="288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228C7D"/>
                </a:solidFill>
                <a:latin typeface="DM Sans"/>
              </a:rPr>
              <a:t>WIE OPTIMIERT HIVEBUY DEN PROZESS</a:t>
            </a:r>
          </a:p>
        </p:txBody>
      </p:sp>
      <p:sp>
        <p:nvSpPr>
          <p:cNvPr id="4" name="Rounded Rectangle 3"/>
          <p:cNvSpPr/>
          <p:nvPr/>
        </p:nvSpPr>
        <p:spPr>
          <a:xfrm>
            <a:off x="684000" y="972000"/>
            <a:ext cx="5268060" cy="5310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84000" y="972000"/>
            <a:ext cx="57600" cy="5310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8000" y="1296000"/>
            <a:ext cx="4620060" cy="4662000"/>
          </a:xfrm>
          <a:prstGeom prst="rect">
            <a:avLst/>
          </a:prstGeom>
          <a:noFill/>
        </p:spPr>
        <p:txBody>
          <a:bodyPr wrap="square" lIns="0" rIns="0" tIns="0" bIns="0">
            <a:spAutoFit/>
          </a:bodyPr>
          <a:lstStyle/>
          <a:p>
            <a:pPr>
              <a:lnSpc>
                <a:spcPct val="130000"/>
              </a:lnSpc>
              <a:spcBef>
                <a:spcPts val="0"/>
              </a:spcBef>
              <a:spcAft>
                <a:spcPts val="900"/>
              </a:spcAft>
            </a:pPr>
            <a:r>
              <a:rPr sz="1300" b="0">
                <a:solidFill>
                  <a:srgbClr val="204540"/>
                </a:solidFill>
                <a:latin typeface="DM Sans"/>
              </a:rPr>
              <a:t>•  Ein Suchfeld für alles: Hivebuy routet automatisch durch Kataloge und 60 bis 70 Onlineshops</a:t>
            </a:r>
          </a:p>
          <a:p>
            <a:pPr>
              <a:lnSpc>
                <a:spcPct val="130000"/>
              </a:lnSpc>
              <a:spcBef>
                <a:spcPts val="0"/>
              </a:spcBef>
              <a:spcAft>
                <a:spcPts val="900"/>
              </a:spcAft>
            </a:pPr>
            <a:r>
              <a:rPr sz="1300" b="0">
                <a:solidFill>
                  <a:srgbClr val="204540"/>
                </a:solidFill>
                <a:latin typeface="DM Sans"/>
              </a:rPr>
              <a:t>•  Angebote als PDF, Excel oder Screenshot werden automatisch ausgelesen</a:t>
            </a:r>
          </a:p>
          <a:p>
            <a:pPr>
              <a:lnSpc>
                <a:spcPct val="130000"/>
              </a:lnSpc>
              <a:spcBef>
                <a:spcPts val="0"/>
              </a:spcBef>
              <a:spcAft>
                <a:spcPts val="900"/>
              </a:spcAft>
            </a:pPr>
            <a:r>
              <a:rPr sz="1300" b="0">
                <a:solidFill>
                  <a:srgbClr val="204540"/>
                </a:solidFill>
                <a:latin typeface="DM Sans"/>
              </a:rPr>
              <a:t>•  Positionen entstehen in Sekunden als vorkontierte Bedarfsanforderung</a:t>
            </a:r>
          </a:p>
          <a:p>
            <a:pPr>
              <a:lnSpc>
                <a:spcPct val="130000"/>
              </a:lnSpc>
              <a:spcBef>
                <a:spcPts val="0"/>
              </a:spcBef>
              <a:spcAft>
                <a:spcPts val="900"/>
              </a:spcAft>
            </a:pPr>
            <a:r>
              <a:rPr sz="1300" b="0">
                <a:solidFill>
                  <a:srgbClr val="204540"/>
                </a:solidFill>
                <a:latin typeface="DM Sans"/>
              </a:rPr>
              <a:t>•  KI-Kontierung auf Basis des Kontenrahmens, unabhängig von E-Class-Mapping</a:t>
            </a:r>
          </a:p>
          <a:p>
            <a:pPr>
              <a:lnSpc>
                <a:spcPct val="130000"/>
              </a:lnSpc>
              <a:spcBef>
                <a:spcPts val="0"/>
              </a:spcBef>
              <a:spcAft>
                <a:spcPts val="900"/>
              </a:spcAft>
            </a:pPr>
            <a:r>
              <a:rPr sz="1300" b="0">
                <a:solidFill>
                  <a:srgbClr val="204540"/>
                </a:solidFill>
                <a:latin typeface="DM Sans"/>
              </a:rPr>
              <a:t>•  Einheitliches Datenformat für Katalog-, Freitext- und Shopbestellungen</a:t>
            </a:r>
          </a:p>
        </p:txBody>
      </p:sp>
      <p:sp>
        <p:nvSpPr>
          <p:cNvPr id="7" name="Rounded Rectangle 6"/>
          <p:cNvSpPr/>
          <p:nvPr/>
        </p:nvSpPr>
        <p:spPr>
          <a:xfrm>
            <a:off x="6240060" y="972000"/>
            <a:ext cx="5268060" cy="5310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240060" y="972000"/>
            <a:ext cx="57600" cy="5310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4060" y="1296000"/>
            <a:ext cx="4620060" cy="4662000"/>
          </a:xfrm>
          <a:prstGeom prst="rect">
            <a:avLst/>
          </a:prstGeom>
          <a:noFill/>
        </p:spPr>
        <p:txBody>
          <a:bodyPr wrap="square" lIns="0" rIns="0" tIns="0" bIns="0">
            <a:spAutoFit/>
          </a:bodyPr>
          <a:lstStyle/>
          <a:p>
            <a:pPr>
              <a:lnSpc>
                <a:spcPct val="130000"/>
              </a:lnSpc>
              <a:spcBef>
                <a:spcPts val="0"/>
              </a:spcBef>
              <a:spcAft>
                <a:spcPts val="900"/>
              </a:spcAft>
            </a:pPr>
            <a:r>
              <a:rPr sz="1300" b="0">
                <a:solidFill>
                  <a:srgbClr val="204540"/>
                </a:solidFill>
                <a:latin typeface="DM Sans"/>
              </a:rPr>
              <a:t>•  Freigabe per Microsoft Teams mit einem Klick, ohne SAP-Login</a:t>
            </a:r>
          </a:p>
          <a:p>
            <a:pPr>
              <a:lnSpc>
                <a:spcPct val="130000"/>
              </a:lnSpc>
              <a:spcBef>
                <a:spcPts val="0"/>
              </a:spcBef>
              <a:spcAft>
                <a:spcPts val="900"/>
              </a:spcAft>
            </a:pPr>
            <a:r>
              <a:rPr sz="1300" b="0">
                <a:solidFill>
                  <a:srgbClr val="204540"/>
                </a:solidFill>
                <a:latin typeface="DM Sans"/>
              </a:rPr>
              <a:t>•  Wareneingang auf Positionsebene, auch Teillieferungen und Dienstleistungsstunden</a:t>
            </a:r>
          </a:p>
          <a:p>
            <a:pPr>
              <a:lnSpc>
                <a:spcPct val="130000"/>
              </a:lnSpc>
              <a:spcBef>
                <a:spcPts val="0"/>
              </a:spcBef>
              <a:spcAft>
                <a:spcPts val="900"/>
              </a:spcAft>
            </a:pPr>
            <a:r>
              <a:rPr sz="1300" b="0">
                <a:solidFill>
                  <a:srgbClr val="204540"/>
                </a:solidFill>
                <a:latin typeface="DM Sans"/>
              </a:rPr>
              <a:t>•  Preisvergleich über die integrierten Shops in Echtzeit, ohne Mittelsmann</a:t>
            </a:r>
          </a:p>
          <a:p>
            <a:pPr>
              <a:lnSpc>
                <a:spcPct val="130000"/>
              </a:lnSpc>
              <a:spcBef>
                <a:spcPts val="0"/>
              </a:spcBef>
              <a:spcAft>
                <a:spcPts val="900"/>
              </a:spcAft>
            </a:pPr>
            <a:r>
              <a:rPr sz="1300" b="0">
                <a:solidFill>
                  <a:srgbClr val="204540"/>
                </a:solidFill>
                <a:latin typeface="DM Sans"/>
              </a:rPr>
              <a:t>•  SAP bleibt führend für Rechnungsprüfung und Kontierungsobjekte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0" cy="6858000"/>
          </a:xfrm>
          <a:prstGeom prst="rect">
            <a:avLst/>
          </a:prstGeom>
          <a:solidFill>
            <a:srgbClr val="FBF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576000"/>
            <a:ext cx="10824120" cy="288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228C7D"/>
                </a:solidFill>
                <a:latin typeface="DM Sans"/>
              </a:rPr>
              <a:t>VORTEILE FÜR BEDARFSTRÄGER UND DEN EINKAUF</a:t>
            </a:r>
          </a:p>
        </p:txBody>
      </p:sp>
      <p:sp>
        <p:nvSpPr>
          <p:cNvPr id="4" name="Rounded Rectangle 3"/>
          <p:cNvSpPr/>
          <p:nvPr/>
        </p:nvSpPr>
        <p:spPr>
          <a:xfrm>
            <a:off x="684000" y="972000"/>
            <a:ext cx="5268060" cy="5310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84000" y="972000"/>
            <a:ext cx="57600" cy="5310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6000" y="1224000"/>
            <a:ext cx="396000" cy="396000"/>
          </a:xfrm>
          <a:prstGeom prst="roundRect">
            <a:avLst>
              <a:gd name="adj" fmla="val 6000"/>
            </a:avLst>
          </a:prstGeom>
          <a:solidFill>
            <a:srgbClr val="204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1FF45"/>
                </a:solidFill>
                <a:latin typeface="DM Sans"/>
              </a:rPr>
              <a:t>1</a:t>
            </a:r>
          </a:p>
        </p:txBody>
      </p:sp>
      <p:sp>
        <p:nvSpPr>
          <p:cNvPr id="7" name="TextBox 6"/>
          <p:cNvSpPr txBox="1"/>
          <p:nvPr/>
        </p:nvSpPr>
        <p:spPr>
          <a:xfrm>
            <a:off x="1440000" y="1260000"/>
            <a:ext cx="4260060" cy="576000"/>
          </a:xfrm>
          <a:prstGeom prst="rect">
            <a:avLst/>
          </a:prstGeom>
          <a:noFill/>
        </p:spPr>
        <p:txBody>
          <a:bodyPr wrap="square" lIns="0" rIns="0" tIns="0" bIns="0">
            <a:spAutoFit/>
          </a:bodyPr>
          <a:lstStyle/>
          <a:p>
            <a:pPr>
              <a:lnSpc>
                <a:spcPct val="110000"/>
              </a:lnSpc>
              <a:spcBef>
                <a:spcPts val="0"/>
              </a:spcBef>
              <a:spcAft>
                <a:spcPts val="0"/>
              </a:spcAft>
            </a:pPr>
            <a:r>
              <a:rPr sz="1700" b="0">
                <a:solidFill>
                  <a:srgbClr val="204540"/>
                </a:solidFill>
                <a:latin typeface="Frank Ruhl Libre"/>
              </a:rPr>
              <a:t>Mitarbeitende / Bedarfsträger</a:t>
            </a:r>
          </a:p>
        </p:txBody>
      </p:sp>
      <p:sp>
        <p:nvSpPr>
          <p:cNvPr id="8" name="TextBox 7"/>
          <p:cNvSpPr txBox="1"/>
          <p:nvPr/>
        </p:nvSpPr>
        <p:spPr>
          <a:xfrm>
            <a:off x="936000" y="1980000"/>
            <a:ext cx="4764060" cy="3438000"/>
          </a:xfrm>
          <a:prstGeom prst="rect">
            <a:avLst/>
          </a:prstGeom>
          <a:noFill/>
        </p:spPr>
        <p:txBody>
          <a:bodyPr wrap="square" lIns="0" rIns="0" tIns="0" bIns="0">
            <a:spAutoFit/>
          </a:bodyPr>
          <a:lstStyle/>
          <a:p>
            <a:pPr>
              <a:lnSpc>
                <a:spcPct val="130000"/>
              </a:lnSpc>
              <a:spcBef>
                <a:spcPts val="0"/>
              </a:spcBef>
              <a:spcAft>
                <a:spcPts val="700"/>
              </a:spcAft>
            </a:pPr>
            <a:r>
              <a:rPr sz="1300" b="0">
                <a:solidFill>
                  <a:srgbClr val="204540"/>
                </a:solidFill>
                <a:latin typeface="DM Sans"/>
              </a:rPr>
              <a:t>•  Ein Suchfeld statt der Frage, in welchem System oder Shop bestellt wird (Intake Agent).</a:t>
            </a:r>
          </a:p>
          <a:p>
            <a:pPr>
              <a:lnSpc>
                <a:spcPct val="130000"/>
              </a:lnSpc>
              <a:spcBef>
                <a:spcPts val="0"/>
              </a:spcBef>
              <a:spcAft>
                <a:spcPts val="700"/>
              </a:spcAft>
            </a:pPr>
            <a:r>
              <a:rPr sz="1300" b="0">
                <a:solidFill>
                  <a:srgbClr val="204540"/>
                </a:solidFill>
                <a:latin typeface="DM Sans"/>
              </a:rPr>
              <a:t>•  Nicht gelistete Artikel sind direkt bestellbar, ohne Umweg über den Mittelsmann.</a:t>
            </a:r>
          </a:p>
        </p:txBody>
      </p:sp>
      <p:sp>
        <p:nvSpPr>
          <p:cNvPr id="9" name="Rounded Rectangle 8"/>
          <p:cNvSpPr/>
          <p:nvPr/>
        </p:nvSpPr>
        <p:spPr>
          <a:xfrm>
            <a:off x="936000" y="5490000"/>
            <a:ext cx="792000" cy="252000"/>
          </a:xfrm>
          <a:prstGeom prst="roundRect">
            <a:avLst>
              <a:gd name="adj" fmla="val 6000"/>
            </a:avLst>
          </a:prstGeom>
          <a:solidFill>
            <a:srgbClr val="F1FF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04540"/>
                </a:solidFill>
                <a:latin typeface="DM Sans"/>
              </a:rPr>
              <a:t>IMPACT</a:t>
            </a:r>
          </a:p>
        </p:txBody>
      </p:sp>
      <p:sp>
        <p:nvSpPr>
          <p:cNvPr id="10" name="TextBox 9"/>
          <p:cNvSpPr txBox="1"/>
          <p:nvPr/>
        </p:nvSpPr>
        <p:spPr>
          <a:xfrm>
            <a:off x="1836000" y="5472000"/>
            <a:ext cx="3828060" cy="576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3E5B56"/>
                </a:solidFill>
                <a:latin typeface="DM Sans"/>
              </a:rPr>
              <a:t>Orientierungswissen wird nicht mehr gebraucht, auch bei mehr Shops.</a:t>
            </a:r>
          </a:p>
        </p:txBody>
      </p:sp>
      <p:sp>
        <p:nvSpPr>
          <p:cNvPr id="11" name="Rounded Rectangle 10"/>
          <p:cNvSpPr/>
          <p:nvPr/>
        </p:nvSpPr>
        <p:spPr>
          <a:xfrm>
            <a:off x="6240060" y="972000"/>
            <a:ext cx="5268060" cy="5310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0060" y="972000"/>
            <a:ext cx="57600" cy="5310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92060" y="1224000"/>
            <a:ext cx="396000" cy="396000"/>
          </a:xfrm>
          <a:prstGeom prst="roundRect">
            <a:avLst>
              <a:gd name="adj" fmla="val 6000"/>
            </a:avLst>
          </a:prstGeom>
          <a:solidFill>
            <a:srgbClr val="204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1FF45"/>
                </a:solidFill>
                <a:latin typeface="DM Sans"/>
              </a:rPr>
              <a:t>2</a:t>
            </a:r>
          </a:p>
        </p:txBody>
      </p:sp>
      <p:sp>
        <p:nvSpPr>
          <p:cNvPr id="14" name="TextBox 13"/>
          <p:cNvSpPr txBox="1"/>
          <p:nvPr/>
        </p:nvSpPr>
        <p:spPr>
          <a:xfrm>
            <a:off x="6996060" y="1260000"/>
            <a:ext cx="4260060" cy="576000"/>
          </a:xfrm>
          <a:prstGeom prst="rect">
            <a:avLst/>
          </a:prstGeom>
          <a:noFill/>
        </p:spPr>
        <p:txBody>
          <a:bodyPr wrap="square" lIns="0" rIns="0" tIns="0" bIns="0">
            <a:spAutoFit/>
          </a:bodyPr>
          <a:lstStyle/>
          <a:p>
            <a:pPr>
              <a:lnSpc>
                <a:spcPct val="110000"/>
              </a:lnSpc>
              <a:spcBef>
                <a:spcPts val="0"/>
              </a:spcBef>
              <a:spcAft>
                <a:spcPts val="0"/>
              </a:spcAft>
            </a:pPr>
            <a:r>
              <a:rPr sz="1700" b="0">
                <a:solidFill>
                  <a:srgbClr val="204540"/>
                </a:solidFill>
                <a:latin typeface="Frank Ruhl Libre"/>
              </a:rPr>
              <a:t>Einkauf / Administration</a:t>
            </a:r>
          </a:p>
        </p:txBody>
      </p:sp>
      <p:sp>
        <p:nvSpPr>
          <p:cNvPr id="15" name="TextBox 14"/>
          <p:cNvSpPr txBox="1"/>
          <p:nvPr/>
        </p:nvSpPr>
        <p:spPr>
          <a:xfrm>
            <a:off x="6492060" y="1980000"/>
            <a:ext cx="4764060" cy="3438000"/>
          </a:xfrm>
          <a:prstGeom prst="rect">
            <a:avLst/>
          </a:prstGeom>
          <a:noFill/>
        </p:spPr>
        <p:txBody>
          <a:bodyPr wrap="square" lIns="0" rIns="0" tIns="0" bIns="0">
            <a:spAutoFit/>
          </a:bodyPr>
          <a:lstStyle/>
          <a:p>
            <a:pPr>
              <a:lnSpc>
                <a:spcPct val="130000"/>
              </a:lnSpc>
              <a:spcBef>
                <a:spcPts val="0"/>
              </a:spcBef>
              <a:spcAft>
                <a:spcPts val="700"/>
              </a:spcAft>
            </a:pPr>
            <a:r>
              <a:rPr sz="1300" b="0">
                <a:solidFill>
                  <a:srgbClr val="204540"/>
                </a:solidFill>
                <a:latin typeface="DM Sans"/>
              </a:rPr>
              <a:t>•  Angebote werden ausgelesen, statt Position für Position eingetippt zu werden.</a:t>
            </a:r>
          </a:p>
          <a:p>
            <a:pPr>
              <a:lnSpc>
                <a:spcPct val="130000"/>
              </a:lnSpc>
              <a:spcBef>
                <a:spcPts val="0"/>
              </a:spcBef>
              <a:spcAft>
                <a:spcPts val="700"/>
              </a:spcAft>
            </a:pPr>
            <a:r>
              <a:rPr sz="1300" b="0">
                <a:solidFill>
                  <a:srgbClr val="204540"/>
                </a:solidFill>
                <a:latin typeface="DM Sans"/>
              </a:rPr>
              <a:t>•  Freigaben laufen aus Microsoft Teams heraus (Approval Agent).</a:t>
            </a:r>
          </a:p>
        </p:txBody>
      </p:sp>
      <p:sp>
        <p:nvSpPr>
          <p:cNvPr id="16" name="Rounded Rectangle 15"/>
          <p:cNvSpPr/>
          <p:nvPr/>
        </p:nvSpPr>
        <p:spPr>
          <a:xfrm>
            <a:off x="6492060" y="5490000"/>
            <a:ext cx="792000" cy="252000"/>
          </a:xfrm>
          <a:prstGeom prst="roundRect">
            <a:avLst>
              <a:gd name="adj" fmla="val 6000"/>
            </a:avLst>
          </a:prstGeom>
          <a:solidFill>
            <a:srgbClr val="F1FF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04540"/>
                </a:solidFill>
                <a:latin typeface="DM Sans"/>
              </a:rPr>
              <a:t>IMPACT</a:t>
            </a:r>
          </a:p>
        </p:txBody>
      </p:sp>
      <p:sp>
        <p:nvSpPr>
          <p:cNvPr id="17" name="TextBox 16"/>
          <p:cNvSpPr txBox="1"/>
          <p:nvPr/>
        </p:nvSpPr>
        <p:spPr>
          <a:xfrm>
            <a:off x="7392060" y="5472000"/>
            <a:ext cx="3828060" cy="576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3E5B56"/>
                </a:solidFill>
                <a:latin typeface="DM Sans"/>
              </a:rPr>
              <a:t>Die Kapazität für nicht wertschöpfende Dateneingabe wird frei.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0" cy="6858000"/>
          </a:xfrm>
          <a:prstGeom prst="rect">
            <a:avLst/>
          </a:prstGeom>
          <a:solidFill>
            <a:srgbClr val="FBF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576000"/>
            <a:ext cx="10824120" cy="288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228C7D"/>
                </a:solidFill>
                <a:latin typeface="DM Sans"/>
              </a:rPr>
              <a:t>VORTEILE FÜR FINANCE &amp; CONTROLLING UND DIE GESCHÄFTSFÜHRUNG</a:t>
            </a:r>
          </a:p>
        </p:txBody>
      </p:sp>
      <p:sp>
        <p:nvSpPr>
          <p:cNvPr id="4" name="Rounded Rectangle 3"/>
          <p:cNvSpPr/>
          <p:nvPr/>
        </p:nvSpPr>
        <p:spPr>
          <a:xfrm>
            <a:off x="684000" y="972000"/>
            <a:ext cx="5268060" cy="5310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84000" y="972000"/>
            <a:ext cx="57600" cy="5310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6000" y="1224000"/>
            <a:ext cx="396000" cy="396000"/>
          </a:xfrm>
          <a:prstGeom prst="roundRect">
            <a:avLst>
              <a:gd name="adj" fmla="val 6000"/>
            </a:avLst>
          </a:prstGeom>
          <a:solidFill>
            <a:srgbClr val="204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1FF45"/>
                </a:solidFill>
                <a:latin typeface="DM Sans"/>
              </a:rPr>
              <a:t>3</a:t>
            </a:r>
          </a:p>
        </p:txBody>
      </p:sp>
      <p:sp>
        <p:nvSpPr>
          <p:cNvPr id="7" name="TextBox 6"/>
          <p:cNvSpPr txBox="1"/>
          <p:nvPr/>
        </p:nvSpPr>
        <p:spPr>
          <a:xfrm>
            <a:off x="1440000" y="1260000"/>
            <a:ext cx="4260060" cy="576000"/>
          </a:xfrm>
          <a:prstGeom prst="rect">
            <a:avLst/>
          </a:prstGeom>
          <a:noFill/>
        </p:spPr>
        <p:txBody>
          <a:bodyPr wrap="square" lIns="0" rIns="0" tIns="0" bIns="0">
            <a:spAutoFit/>
          </a:bodyPr>
          <a:lstStyle/>
          <a:p>
            <a:pPr>
              <a:lnSpc>
                <a:spcPct val="110000"/>
              </a:lnSpc>
              <a:spcBef>
                <a:spcPts val="0"/>
              </a:spcBef>
              <a:spcAft>
                <a:spcPts val="0"/>
              </a:spcAft>
            </a:pPr>
            <a:r>
              <a:rPr sz="1700" b="0">
                <a:solidFill>
                  <a:srgbClr val="204540"/>
                </a:solidFill>
                <a:latin typeface="Frank Ruhl Libre"/>
              </a:rPr>
              <a:t>Finance / Controlling</a:t>
            </a:r>
          </a:p>
        </p:txBody>
      </p:sp>
      <p:sp>
        <p:nvSpPr>
          <p:cNvPr id="8" name="TextBox 7"/>
          <p:cNvSpPr txBox="1"/>
          <p:nvPr/>
        </p:nvSpPr>
        <p:spPr>
          <a:xfrm>
            <a:off x="936000" y="1980000"/>
            <a:ext cx="4764060" cy="3438000"/>
          </a:xfrm>
          <a:prstGeom prst="rect">
            <a:avLst/>
          </a:prstGeom>
          <a:noFill/>
        </p:spPr>
        <p:txBody>
          <a:bodyPr wrap="square" lIns="0" rIns="0" tIns="0" bIns="0">
            <a:spAutoFit/>
          </a:bodyPr>
          <a:lstStyle/>
          <a:p>
            <a:pPr>
              <a:lnSpc>
                <a:spcPct val="130000"/>
              </a:lnSpc>
              <a:spcBef>
                <a:spcPts val="0"/>
              </a:spcBef>
              <a:spcAft>
                <a:spcPts val="700"/>
              </a:spcAft>
            </a:pPr>
            <a:r>
              <a:rPr sz="1300" b="0">
                <a:solidFill>
                  <a:srgbClr val="204540"/>
                </a:solidFill>
                <a:latin typeface="DM Sans"/>
              </a:rPr>
              <a:t>•  KI-Kontierung auf Basis des Kontenrahmens, ohne E-Class-Mapping (Accounting Agent).</a:t>
            </a:r>
          </a:p>
          <a:p>
            <a:pPr>
              <a:lnSpc>
                <a:spcPct val="130000"/>
              </a:lnSpc>
              <a:spcBef>
                <a:spcPts val="0"/>
              </a:spcBef>
              <a:spcAft>
                <a:spcPts val="700"/>
              </a:spcAft>
            </a:pPr>
            <a:r>
              <a:rPr sz="1300" b="0">
                <a:solidFill>
                  <a:srgbClr val="204540"/>
                </a:solidFill>
                <a:latin typeface="DM Sans"/>
              </a:rPr>
              <a:t>•  Ein Datenformat für Katalog, Freitext und Shop, SAP bleibt für die Rechnungsprüfung führend.</a:t>
            </a:r>
          </a:p>
        </p:txBody>
      </p:sp>
      <p:sp>
        <p:nvSpPr>
          <p:cNvPr id="9" name="Rounded Rectangle 8"/>
          <p:cNvSpPr/>
          <p:nvPr/>
        </p:nvSpPr>
        <p:spPr>
          <a:xfrm>
            <a:off x="936000" y="5490000"/>
            <a:ext cx="792000" cy="252000"/>
          </a:xfrm>
          <a:prstGeom prst="roundRect">
            <a:avLst>
              <a:gd name="adj" fmla="val 6000"/>
            </a:avLst>
          </a:prstGeom>
          <a:solidFill>
            <a:srgbClr val="F1FF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04540"/>
                </a:solidFill>
                <a:latin typeface="DM Sans"/>
              </a:rPr>
              <a:t>IMPACT</a:t>
            </a:r>
          </a:p>
        </p:txBody>
      </p:sp>
      <p:sp>
        <p:nvSpPr>
          <p:cNvPr id="10" name="TextBox 9"/>
          <p:cNvSpPr txBox="1"/>
          <p:nvPr/>
        </p:nvSpPr>
        <p:spPr>
          <a:xfrm>
            <a:off x="1836000" y="5472000"/>
            <a:ext cx="3828060" cy="576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3E5B56"/>
                </a:solidFill>
                <a:latin typeface="DM Sans"/>
              </a:rPr>
              <a:t>Auch Freitextbestellungen kommen kontiert an, nicht nur Katalogartikel.</a:t>
            </a:r>
          </a:p>
        </p:txBody>
      </p:sp>
      <p:sp>
        <p:nvSpPr>
          <p:cNvPr id="11" name="Rounded Rectangle 10"/>
          <p:cNvSpPr/>
          <p:nvPr/>
        </p:nvSpPr>
        <p:spPr>
          <a:xfrm>
            <a:off x="6240060" y="972000"/>
            <a:ext cx="5268060" cy="5310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0060" y="972000"/>
            <a:ext cx="57600" cy="5310000"/>
          </a:xfrm>
          <a:prstGeom prst="rect">
            <a:avLst/>
          </a:prstGeom>
          <a:solidFill>
            <a:srgbClr val="228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92060" y="1224000"/>
            <a:ext cx="396000" cy="396000"/>
          </a:xfrm>
          <a:prstGeom prst="roundRect">
            <a:avLst>
              <a:gd name="adj" fmla="val 6000"/>
            </a:avLst>
          </a:prstGeom>
          <a:solidFill>
            <a:srgbClr val="204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1FF45"/>
                </a:solidFill>
                <a:latin typeface="DM Sans"/>
              </a:rPr>
              <a:t>4</a:t>
            </a:r>
          </a:p>
        </p:txBody>
      </p:sp>
      <p:sp>
        <p:nvSpPr>
          <p:cNvPr id="14" name="TextBox 13"/>
          <p:cNvSpPr txBox="1"/>
          <p:nvPr/>
        </p:nvSpPr>
        <p:spPr>
          <a:xfrm>
            <a:off x="6996060" y="1260000"/>
            <a:ext cx="4260060" cy="576000"/>
          </a:xfrm>
          <a:prstGeom prst="rect">
            <a:avLst/>
          </a:prstGeom>
          <a:noFill/>
        </p:spPr>
        <p:txBody>
          <a:bodyPr wrap="square" lIns="0" rIns="0" tIns="0" bIns="0">
            <a:spAutoFit/>
          </a:bodyPr>
          <a:lstStyle/>
          <a:p>
            <a:pPr>
              <a:lnSpc>
                <a:spcPct val="110000"/>
              </a:lnSpc>
              <a:spcBef>
                <a:spcPts val="0"/>
              </a:spcBef>
              <a:spcAft>
                <a:spcPts val="0"/>
              </a:spcAft>
            </a:pPr>
            <a:r>
              <a:rPr sz="1700" b="0">
                <a:solidFill>
                  <a:srgbClr val="204540"/>
                </a:solidFill>
                <a:latin typeface="Frank Ruhl Libre"/>
              </a:rPr>
              <a:t>Geschäftsführung / Management</a:t>
            </a:r>
          </a:p>
        </p:txBody>
      </p:sp>
      <p:sp>
        <p:nvSpPr>
          <p:cNvPr id="15" name="TextBox 14"/>
          <p:cNvSpPr txBox="1"/>
          <p:nvPr/>
        </p:nvSpPr>
        <p:spPr>
          <a:xfrm>
            <a:off x="6492060" y="1980000"/>
            <a:ext cx="4764060" cy="3438000"/>
          </a:xfrm>
          <a:prstGeom prst="rect">
            <a:avLst/>
          </a:prstGeom>
          <a:noFill/>
        </p:spPr>
        <p:txBody>
          <a:bodyPr wrap="square" lIns="0" rIns="0" tIns="0" bIns="0">
            <a:spAutoFit/>
          </a:bodyPr>
          <a:lstStyle/>
          <a:p>
            <a:pPr>
              <a:lnSpc>
                <a:spcPct val="130000"/>
              </a:lnSpc>
              <a:spcBef>
                <a:spcPts val="0"/>
              </a:spcBef>
              <a:spcAft>
                <a:spcPts val="700"/>
              </a:spcAft>
            </a:pPr>
            <a:r>
              <a:rPr sz="1300" b="0">
                <a:solidFill>
                  <a:srgbClr val="204540"/>
                </a:solidFill>
                <a:latin typeface="DM Sans"/>
              </a:rPr>
              <a:t>•  Preisvergleich in Echtzeit statt Aufschlag von rund 10 Prozent über den Mittelsmann.</a:t>
            </a:r>
          </a:p>
          <a:p>
            <a:pPr>
              <a:lnSpc>
                <a:spcPct val="130000"/>
              </a:lnSpc>
              <a:spcBef>
                <a:spcPts val="0"/>
              </a:spcBef>
              <a:spcAft>
                <a:spcPts val="700"/>
              </a:spcAft>
            </a:pPr>
            <a:r>
              <a:rPr sz="1300" b="0">
                <a:solidFill>
                  <a:srgbClr val="204540"/>
                </a:solidFill>
                <a:latin typeface="DM Sans"/>
              </a:rPr>
              <a:t>•  Ausgaben sind über alle Bestellarten hinweg auswertbar (Analytics Agent).</a:t>
            </a:r>
          </a:p>
        </p:txBody>
      </p:sp>
      <p:sp>
        <p:nvSpPr>
          <p:cNvPr id="16" name="Rounded Rectangle 15"/>
          <p:cNvSpPr/>
          <p:nvPr/>
        </p:nvSpPr>
        <p:spPr>
          <a:xfrm>
            <a:off x="6492060" y="5490000"/>
            <a:ext cx="792000" cy="252000"/>
          </a:xfrm>
          <a:prstGeom prst="roundRect">
            <a:avLst>
              <a:gd name="adj" fmla="val 6000"/>
            </a:avLst>
          </a:prstGeom>
          <a:solidFill>
            <a:srgbClr val="F1FF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04540"/>
                </a:solidFill>
                <a:latin typeface="DM Sans"/>
              </a:rPr>
              <a:t>IMPACT</a:t>
            </a:r>
          </a:p>
        </p:txBody>
      </p:sp>
      <p:sp>
        <p:nvSpPr>
          <p:cNvPr id="17" name="TextBox 16"/>
          <p:cNvSpPr txBox="1"/>
          <p:nvPr/>
        </p:nvSpPr>
        <p:spPr>
          <a:xfrm>
            <a:off x="7392060" y="5472000"/>
            <a:ext cx="3828060" cy="576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3E5B56"/>
                </a:solidFill>
                <a:latin typeface="DM Sans"/>
              </a:rPr>
              <a:t>Der Aufschlag entfällt und die Beschaffung wird über alle Wege vergleichbar.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20" cy="6858000"/>
          </a:xfrm>
          <a:prstGeom prst="rect">
            <a:avLst/>
          </a:prstGeom>
          <a:solidFill>
            <a:srgbClr val="FBF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4000" y="576000"/>
            <a:ext cx="10824120" cy="288000"/>
          </a:xfrm>
          <a:prstGeom prst="rect">
            <a:avLst/>
          </a:prstGeom>
          <a:noFill/>
        </p:spPr>
        <p:txBody>
          <a:bodyPr wrap="square" lIns="0" rIns="0" tIns="0" bIns="0">
            <a:spAutoFit/>
          </a:bodyPr>
          <a:lstStyle/>
          <a:p>
            <a:pPr>
              <a:lnSpc>
                <a:spcPct val="125000"/>
              </a:lnSpc>
              <a:spcBef>
                <a:spcPts val="0"/>
              </a:spcBef>
              <a:spcAft>
                <a:spcPts val="0"/>
              </a:spcAft>
            </a:pPr>
            <a:r>
              <a:rPr sz="1200" b="1">
                <a:solidFill>
                  <a:srgbClr val="228C7D"/>
                </a:solidFill>
                <a:latin typeface="DM Sans"/>
              </a:rPr>
              <a:t>ZUSAMMENFASSUNG</a:t>
            </a:r>
          </a:p>
        </p:txBody>
      </p:sp>
      <p:sp>
        <p:nvSpPr>
          <p:cNvPr id="4" name="Rounded Rectangle 3"/>
          <p:cNvSpPr/>
          <p:nvPr/>
        </p:nvSpPr>
        <p:spPr>
          <a:xfrm>
            <a:off x="684000" y="972000"/>
            <a:ext cx="10824120" cy="1584000"/>
          </a:xfrm>
          <a:prstGeom prst="roundRect">
            <a:avLst>
              <a:gd name="adj" fmla="val 6000"/>
            </a:avLst>
          </a:prstGeom>
          <a:solidFill>
            <a:srgbClr val="204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84000" y="972000"/>
            <a:ext cx="72000" cy="1584000"/>
          </a:xfrm>
          <a:prstGeom prst="rect">
            <a:avLst/>
          </a:prstGeom>
          <a:solidFill>
            <a:srgbClr val="F1F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4000" y="1260000"/>
            <a:ext cx="10104120" cy="1080000"/>
          </a:xfrm>
          <a:prstGeom prst="rect">
            <a:avLst/>
          </a:prstGeom>
          <a:noFill/>
        </p:spPr>
        <p:txBody>
          <a:bodyPr wrap="square" lIns="0" rIns="0" tIns="0" bIns="0">
            <a:spAutoFit/>
          </a:bodyPr>
          <a:lstStyle/>
          <a:p>
            <a:pPr>
              <a:lnSpc>
                <a:spcPct val="130000"/>
              </a:lnSpc>
              <a:spcBef>
                <a:spcPts val="0"/>
              </a:spcBef>
              <a:spcAft>
                <a:spcPts val="0"/>
              </a:spcAft>
            </a:pPr>
            <a:r>
              <a:rPr sz="1600" b="0">
                <a:solidFill>
                  <a:srgbClr val="FFFFFF"/>
                </a:solidFill>
                <a:latin typeface="Frank Ruhl Libre"/>
              </a:rPr>
              <a:t>Sarstedt könnte die manuelle Verarbeitung von Angebotspositionen und den Umweg über den Systemlieferanten einsparen, ohne OnVentus oder SAP anzutasten. Das Gespräch am 10.09.2026 war nicht qualifiziert, dieses Dokument dient einem späteren Anlauf.</a:t>
            </a:r>
          </a:p>
        </p:txBody>
      </p:sp>
      <p:sp>
        <p:nvSpPr>
          <p:cNvPr id="7" name="TextBox 6"/>
          <p:cNvSpPr txBox="1"/>
          <p:nvPr/>
        </p:nvSpPr>
        <p:spPr>
          <a:xfrm>
            <a:off x="684000" y="2844000"/>
            <a:ext cx="5196060" cy="252000"/>
          </a:xfrm>
          <a:prstGeom prst="rect">
            <a:avLst/>
          </a:prstGeom>
          <a:noFill/>
        </p:spPr>
        <p:txBody>
          <a:bodyPr wrap="square" lIns="0" rIns="0" tIns="0" bIns="0">
            <a:spAutoFit/>
          </a:bodyPr>
          <a:lstStyle/>
          <a:p>
            <a:pPr>
              <a:lnSpc>
                <a:spcPct val="125000"/>
              </a:lnSpc>
              <a:spcBef>
                <a:spcPts val="0"/>
              </a:spcBef>
              <a:spcAft>
                <a:spcPts val="0"/>
              </a:spcAft>
            </a:pPr>
            <a:r>
              <a:rPr sz="1100" b="1">
                <a:solidFill>
                  <a:srgbClr val="228C7D"/>
                </a:solidFill>
                <a:latin typeface="DM Sans"/>
              </a:rPr>
              <a:t>ZAHLENBASIS AUS DEM GESPRÄCH</a:t>
            </a:r>
          </a:p>
        </p:txBody>
      </p:sp>
      <p:sp>
        <p:nvSpPr>
          <p:cNvPr id="8" name="TextBox 7"/>
          <p:cNvSpPr txBox="1"/>
          <p:nvPr/>
        </p:nvSpPr>
        <p:spPr>
          <a:xfrm>
            <a:off x="684000" y="3168000"/>
            <a:ext cx="5196060" cy="1656000"/>
          </a:xfrm>
          <a:prstGeom prst="rect">
            <a:avLst/>
          </a:prstGeom>
          <a:noFill/>
        </p:spPr>
        <p:txBody>
          <a:bodyPr wrap="square" lIns="0" rIns="0" tIns="0" bIns="0">
            <a:spAutoFit/>
          </a:bodyPr>
          <a:lstStyle/>
          <a:p>
            <a:pPr>
              <a:lnSpc>
                <a:spcPct val="125000"/>
              </a:lnSpc>
              <a:spcBef>
                <a:spcPts val="0"/>
              </a:spcBef>
              <a:spcAft>
                <a:spcPts val="500"/>
              </a:spcAft>
            </a:pPr>
            <a:r>
              <a:rPr sz="1200" b="0">
                <a:solidFill>
                  <a:srgbClr val="3E5B56"/>
                </a:solidFill>
                <a:latin typeface="DM Sans"/>
              </a:rPr>
              <a:t>•  ca. 1.000 Bestellungen pro Monat (aus einer früheren manuellen Notiz vom 24.08.2026) (belegt)</a:t>
            </a:r>
          </a:p>
          <a:p>
            <a:pPr>
              <a:lnSpc>
                <a:spcPct val="125000"/>
              </a:lnSpc>
              <a:spcBef>
                <a:spcPts val="0"/>
              </a:spcBef>
              <a:spcAft>
                <a:spcPts val="500"/>
              </a:spcAft>
            </a:pPr>
            <a:r>
              <a:rPr sz="1200" b="0">
                <a:solidFill>
                  <a:srgbClr val="3E5B56"/>
                </a:solidFill>
                <a:latin typeface="DM Sans"/>
              </a:rPr>
              <a:t>•  ca. 10 Prozent Aufschlag des Systemlieferanten für nicht gelistete Shops (belegt)</a:t>
            </a:r>
          </a:p>
          <a:p>
            <a:pPr>
              <a:lnSpc>
                <a:spcPct val="125000"/>
              </a:lnSpc>
              <a:spcBef>
                <a:spcPts val="0"/>
              </a:spcBef>
              <a:spcAft>
                <a:spcPts val="500"/>
              </a:spcAft>
            </a:pPr>
            <a:r>
              <a:rPr sz="1200" b="0">
                <a:solidFill>
                  <a:srgbClr val="3E5B56"/>
                </a:solidFill>
                <a:latin typeface="DM Sans"/>
              </a:rPr>
              <a:t>•  60 bis 70 in Hivebuy integrierte Onlineshops (belegt)</a:t>
            </a:r>
          </a:p>
          <a:p>
            <a:pPr>
              <a:lnSpc>
                <a:spcPct val="125000"/>
              </a:lnSpc>
              <a:spcBef>
                <a:spcPts val="0"/>
              </a:spcBef>
              <a:spcAft>
                <a:spcPts val="500"/>
              </a:spcAft>
            </a:pPr>
            <a:r>
              <a:rPr sz="1200" b="0">
                <a:solidFill>
                  <a:srgbClr val="3E5B56"/>
                </a:solidFill>
                <a:latin typeface="DM Sans"/>
              </a:rPr>
              <a:t>•  Häufigkeit der Angebote mit mehreren Positionen pro Monat (offen)</a:t>
            </a:r>
          </a:p>
        </p:txBody>
      </p:sp>
      <p:sp>
        <p:nvSpPr>
          <p:cNvPr id="9" name="TextBox 8"/>
          <p:cNvSpPr txBox="1"/>
          <p:nvPr/>
        </p:nvSpPr>
        <p:spPr>
          <a:xfrm>
            <a:off x="6312060" y="2844000"/>
            <a:ext cx="5196060" cy="252000"/>
          </a:xfrm>
          <a:prstGeom prst="rect">
            <a:avLst/>
          </a:prstGeom>
          <a:noFill/>
        </p:spPr>
        <p:txBody>
          <a:bodyPr wrap="square" lIns="0" rIns="0" tIns="0" bIns="0">
            <a:spAutoFit/>
          </a:bodyPr>
          <a:lstStyle/>
          <a:p>
            <a:pPr>
              <a:lnSpc>
                <a:spcPct val="125000"/>
              </a:lnSpc>
              <a:spcBef>
                <a:spcPts val="0"/>
              </a:spcBef>
              <a:spcAft>
                <a:spcPts val="0"/>
              </a:spcAft>
            </a:pPr>
            <a:r>
              <a:rPr sz="1100" b="1">
                <a:solidFill>
                  <a:srgbClr val="228C7D"/>
                </a:solidFill>
                <a:latin typeface="DM Sans"/>
              </a:rPr>
              <a:t>ANNAHMEN UND OFFENE PUNKTE</a:t>
            </a:r>
          </a:p>
        </p:txBody>
      </p:sp>
      <p:sp>
        <p:nvSpPr>
          <p:cNvPr id="10" name="TextBox 9"/>
          <p:cNvSpPr txBox="1"/>
          <p:nvPr/>
        </p:nvSpPr>
        <p:spPr>
          <a:xfrm>
            <a:off x="6312060" y="3168000"/>
            <a:ext cx="5196060" cy="1656000"/>
          </a:xfrm>
          <a:prstGeom prst="rect">
            <a:avLst/>
          </a:prstGeom>
          <a:noFill/>
        </p:spPr>
        <p:txBody>
          <a:bodyPr wrap="square" lIns="0" rIns="0" tIns="0" bIns="0">
            <a:spAutoFit/>
          </a:bodyPr>
          <a:lstStyle/>
          <a:p>
            <a:pPr>
              <a:lnSpc>
                <a:spcPct val="125000"/>
              </a:lnSpc>
              <a:spcBef>
                <a:spcPts val="0"/>
              </a:spcBef>
              <a:spcAft>
                <a:spcPts val="500"/>
              </a:spcAft>
            </a:pPr>
            <a:r>
              <a:rPr sz="1200" b="0">
                <a:solidFill>
                  <a:srgbClr val="3E5B56"/>
                </a:solidFill>
                <a:latin typeface="DM Sans"/>
              </a:rPr>
              <a:t>•  OnVentus bleibt die Procurement-Plattform, Hivebuy wäre eine Ergänzung, kein Ersatz.</a:t>
            </a:r>
          </a:p>
          <a:p>
            <a:pPr>
              <a:lnSpc>
                <a:spcPct val="125000"/>
              </a:lnSpc>
              <a:spcBef>
                <a:spcPts val="0"/>
              </a:spcBef>
              <a:spcAft>
                <a:spcPts val="500"/>
              </a:spcAft>
            </a:pPr>
            <a:r>
              <a:rPr sz="1200" b="0">
                <a:solidFill>
                  <a:srgbClr val="3E5B56"/>
                </a:solidFill>
                <a:latin typeface="DM Sans"/>
              </a:rPr>
              <a:t>•  Der Pain rund um Angebotspositionen kam von Hivebuy und ist vom Kunden nicht bestätigt.</a:t>
            </a:r>
          </a:p>
          <a:p>
            <a:pPr>
              <a:lnSpc>
                <a:spcPct val="125000"/>
              </a:lnSpc>
              <a:spcBef>
                <a:spcPts val="0"/>
              </a:spcBef>
              <a:spcAft>
                <a:spcPts val="500"/>
              </a:spcAft>
            </a:pPr>
            <a:r>
              <a:rPr sz="1200" b="0">
                <a:solidFill>
                  <a:srgbClr val="3E5B56"/>
                </a:solidFill>
                <a:latin typeface="DM Sans"/>
              </a:rPr>
              <a:t>•  Ein neuer Anlauf ist erst nach der Migration der OCI-Shops nach OnVentus sinnvoll.</a:t>
            </a:r>
          </a:p>
        </p:txBody>
      </p:sp>
      <p:sp>
        <p:nvSpPr>
          <p:cNvPr id="11" name="Rounded Rectangle 10"/>
          <p:cNvSpPr/>
          <p:nvPr/>
        </p:nvSpPr>
        <p:spPr>
          <a:xfrm>
            <a:off x="684000" y="5706000"/>
            <a:ext cx="10824120" cy="684000"/>
          </a:xfrm>
          <a:prstGeom prst="roundRect">
            <a:avLst>
              <a:gd name="adj" fmla="val 6000"/>
            </a:avLst>
          </a:prstGeom>
          <a:solidFill>
            <a:srgbClr val="FFFFFF"/>
          </a:solidFill>
          <a:ln w="12700">
            <a:solidFill>
              <a:srgbClr val="E3E9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72000" y="5904000"/>
            <a:ext cx="7584120" cy="432000"/>
          </a:xfrm>
          <a:prstGeom prst="rect">
            <a:avLst/>
          </a:prstGeom>
          <a:noFill/>
        </p:spPr>
        <p:txBody>
          <a:bodyPr wrap="square" lIns="0" rIns="0" tIns="0" bIns="0">
            <a:spAutoFit/>
          </a:bodyPr>
          <a:lstStyle/>
          <a:p>
            <a:pPr>
              <a:lnSpc>
                <a:spcPct val="125000"/>
              </a:lnSpc>
              <a:spcBef>
                <a:spcPts val="0"/>
              </a:spcBef>
              <a:spcAft>
                <a:spcPts val="0"/>
              </a:spcAft>
            </a:pPr>
            <a:r>
              <a:rPr sz="1300" b="1">
                <a:solidFill>
                  <a:srgbClr val="204540"/>
                </a:solidFill>
                <a:latin typeface="DM Sans"/>
              </a:rPr>
              <a:t>Aktuell kein Schritt vereinbart. Wir melden uns nicht von allein, sondern erst wenn Sie nach der OnVentus-Migration auf uns zukommen.</a:t>
            </a:r>
          </a:p>
        </p:txBody>
      </p:sp>
      <p:sp>
        <p:nvSpPr>
          <p:cNvPr id="13" name="Rounded Rectangle 12"/>
          <p:cNvSpPr/>
          <p:nvPr/>
        </p:nvSpPr>
        <p:spPr>
          <a:xfrm>
            <a:off x="8988120" y="5868000"/>
            <a:ext cx="2232000" cy="360000"/>
          </a:xfrm>
          <a:prstGeom prst="roundRect">
            <a:avLst>
              <a:gd name="adj" fmla="val 6000"/>
            </a:avLst>
          </a:prstGeom>
          <a:solidFill>
            <a:srgbClr val="F1FF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204540"/>
                </a:solidFill>
                <a:latin typeface="DM Sans"/>
                <a:hlinkClick r:id="rId2"/>
              </a:rPr>
              <a:t>Kein Termin vereinbart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