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Layouts/slideLayout7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heme/theme1.xml" ContentType="application/vnd.openxmlformats-officedocument.theme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9212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5" Type="http://schemas.openxmlformats.org/officeDocument/2006/relationships/theme" Target="theme/theme1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55" r:id="rId7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www.hivebuy.com/kontakt" TargetMode="Externa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20" cy="6858000"/>
          </a:xfrm>
          <a:prstGeom prst="rect">
            <a:avLst/>
          </a:prstGeom>
          <a:solidFill>
            <a:srgbClr val="2045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80000" cy="6858000"/>
          </a:xfrm>
          <a:prstGeom prst="rect">
            <a:avLst/>
          </a:prstGeom>
          <a:solidFill>
            <a:srgbClr val="F1FF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4000" y="1512000"/>
            <a:ext cx="10824120" cy="36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F1FF45"/>
                </a:solidFill>
                <a:latin typeface="DM Sans"/>
              </a:rPr>
              <a:t>IMPACT LADDER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4000" y="2016000"/>
            <a:ext cx="8640000" cy="216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4000" b="0">
                <a:solidFill>
                  <a:srgbClr val="FFFFFF"/>
                </a:solidFill>
                <a:latin typeface="Frank Ruhl Libre"/>
              </a:rPr>
              <a:t>Was Hivebuy für Wiedmann &amp; Winz bewirkt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4000" y="4464000"/>
            <a:ext cx="8640000" cy="864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FFFFFF"/>
                </a:solidFill>
                <a:latin typeface="DM Sans"/>
              </a:rPr>
              <a:t>Erstellt für Luis Kottmann</a:t>
            </a:r>
          </a:p>
          <a:p>
            <a:pPr>
              <a:lnSpc>
                <a:spcPct val="125000"/>
              </a:lnSpc>
              <a:spcBef>
                <a:spcPts val="300"/>
              </a:spcBef>
              <a:spcAft>
                <a:spcPts val="0"/>
              </a:spcAft>
            </a:pPr>
            <a:r>
              <a:rPr sz="1400" b="0">
                <a:solidFill>
                  <a:srgbClr val="FFFFFF"/>
                </a:solidFill>
                <a:latin typeface="DM Sans"/>
              </a:rPr>
              <a:t>Basierend auf unserem Gespräch am 03.09.2026</a:t>
            </a:r>
          </a:p>
          <a:p>
            <a:pPr>
              <a:lnSpc>
                <a:spcPct val="125000"/>
              </a:lnSpc>
              <a:spcBef>
                <a:spcPts val="300"/>
              </a:spcBef>
              <a:spcAft>
                <a:spcPts val="0"/>
              </a:spcAft>
            </a:pPr>
            <a:r>
              <a:rPr sz="1200" b="0">
                <a:solidFill>
                  <a:srgbClr val="E3E9E7"/>
                </a:solidFill>
                <a:latin typeface="DM Sans"/>
              </a:rPr>
              <a:t>Stand: 03.09.2026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20" cy="6858000"/>
          </a:xfrm>
          <a:prstGeom prst="rect">
            <a:avLst/>
          </a:prstGeom>
          <a:solidFill>
            <a:srgbClr val="FBF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4000" y="576000"/>
            <a:ext cx="10824120" cy="28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228C7D"/>
                </a:solidFill>
                <a:latin typeface="DM Sans"/>
              </a:rPr>
              <a:t>AKTUELLE OPTIMIERUNGSPOTENZIALE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84000" y="972000"/>
            <a:ext cx="10824120" cy="1044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3E9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84000" y="972000"/>
            <a:ext cx="57600" cy="1044000"/>
          </a:xfrm>
          <a:prstGeom prst="rect">
            <a:avLst/>
          </a:prstGeom>
          <a:solidFill>
            <a:srgbClr val="228C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36000" y="1170000"/>
            <a:ext cx="10320120" cy="684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204540"/>
                </a:solidFill>
                <a:latin typeface="DM Sans"/>
              </a:rPr>
              <a:t>Jede Abteilung bestellt anders</a:t>
            </a:r>
          </a:p>
          <a:p>
            <a:pPr>
              <a:lnSpc>
                <a:spcPct val="125000"/>
              </a:lnSpc>
              <a:spcBef>
                <a:spcPts val="400"/>
              </a:spcBef>
              <a:spcAft>
                <a:spcPts val="0"/>
              </a:spcAft>
            </a:pPr>
            <a:r>
              <a:rPr sz="1300" b="0">
                <a:solidFill>
                  <a:srgbClr val="3E5B56"/>
                </a:solidFill>
                <a:latin typeface="DM Sans"/>
              </a:rPr>
              <a:t>Werkstatt, Büro und IT arbeiten mit gewachsenen Abläufen.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4000" y="2232000"/>
            <a:ext cx="10824120" cy="1044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3E9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84000" y="2232000"/>
            <a:ext cx="57600" cy="1044000"/>
          </a:xfrm>
          <a:prstGeom prst="rect">
            <a:avLst/>
          </a:prstGeom>
          <a:solidFill>
            <a:srgbClr val="228C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36000" y="2430000"/>
            <a:ext cx="10320120" cy="684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204540"/>
                </a:solidFill>
                <a:latin typeface="DM Sans"/>
              </a:rPr>
              <a:t>Preisvergleich von Hand bei 2 bis 4 Anbietern</a:t>
            </a:r>
          </a:p>
          <a:p>
            <a:pPr>
              <a:lnSpc>
                <a:spcPct val="125000"/>
              </a:lnSpc>
              <a:spcBef>
                <a:spcPts val="400"/>
              </a:spcBef>
              <a:spcAft>
                <a:spcPts val="0"/>
              </a:spcAft>
            </a:pPr>
            <a:r>
              <a:rPr sz="1300" b="0">
                <a:solidFill>
                  <a:srgbClr val="3E5B56"/>
                </a:solidFill>
                <a:latin typeface="DM Sans"/>
              </a:rPr>
              <a:t>Angebote werden je Bestellung einzeln gesucht und verglichen.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84000" y="3492000"/>
            <a:ext cx="10824120" cy="1044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3E9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84000" y="3492000"/>
            <a:ext cx="57600" cy="1044000"/>
          </a:xfrm>
          <a:prstGeom prst="rect">
            <a:avLst/>
          </a:prstGeom>
          <a:solidFill>
            <a:srgbClr val="228C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36000" y="3690000"/>
            <a:ext cx="10320120" cy="684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204540"/>
                </a:solidFill>
                <a:latin typeface="DM Sans"/>
              </a:rPr>
              <a:t>Preise je Lieferant sehr unterschiedlich</a:t>
            </a:r>
          </a:p>
          <a:p>
            <a:pPr>
              <a:lnSpc>
                <a:spcPct val="125000"/>
              </a:lnSpc>
              <a:spcBef>
                <a:spcPts val="400"/>
              </a:spcBef>
              <a:spcAft>
                <a:spcPts val="0"/>
              </a:spcAft>
            </a:pPr>
            <a:r>
              <a:rPr sz="1300" b="0">
                <a:solidFill>
                  <a:srgbClr val="3E5B56"/>
                </a:solidFill>
                <a:latin typeface="DM Sans"/>
              </a:rPr>
              <a:t>Beispiel: 450 Euro für ein Werkzeug, anderswo 225 Euro.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84000" y="4752000"/>
            <a:ext cx="10824120" cy="1044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3E9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84000" y="4752000"/>
            <a:ext cx="57600" cy="1044000"/>
          </a:xfrm>
          <a:prstGeom prst="rect">
            <a:avLst/>
          </a:prstGeom>
          <a:solidFill>
            <a:srgbClr val="228C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36000" y="4950000"/>
            <a:ext cx="10320120" cy="684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204540"/>
                </a:solidFill>
                <a:latin typeface="DM Sans"/>
              </a:rPr>
              <a:t>Keine Übersicht über die Ausgaben</a:t>
            </a:r>
          </a:p>
          <a:p>
            <a:pPr>
              <a:lnSpc>
                <a:spcPct val="125000"/>
              </a:lnSpc>
              <a:spcBef>
                <a:spcPts val="400"/>
              </a:spcBef>
              <a:spcAft>
                <a:spcPts val="0"/>
              </a:spcAft>
            </a:pPr>
            <a:r>
              <a:rPr sz="1300" b="0">
                <a:solidFill>
                  <a:srgbClr val="3E5B56"/>
                </a:solidFill>
                <a:latin typeface="DM Sans"/>
              </a:rPr>
              <a:t>Ausgaben nach Lieferant und Warengruppe sind nicht auswertbar.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20" cy="6858000"/>
          </a:xfrm>
          <a:prstGeom prst="rect">
            <a:avLst/>
          </a:prstGeom>
          <a:solidFill>
            <a:srgbClr val="FBF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4000" y="576000"/>
            <a:ext cx="10824120" cy="28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228C7D"/>
                </a:solidFill>
                <a:latin typeface="DM Sans"/>
              </a:rPr>
              <a:t>WIE OPTIMIERT HIVEBUY DEN PROZESS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84000" y="972000"/>
            <a:ext cx="5268060" cy="5310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3E9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84000" y="972000"/>
            <a:ext cx="57600" cy="5310000"/>
          </a:xfrm>
          <a:prstGeom prst="rect">
            <a:avLst/>
          </a:prstGeom>
          <a:solidFill>
            <a:srgbClr val="228C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8000" y="1296000"/>
            <a:ext cx="4620060" cy="4662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900"/>
              </a:spcAft>
            </a:pPr>
            <a:r>
              <a:rPr sz="1300" b="0">
                <a:solidFill>
                  <a:srgbClr val="204540"/>
                </a:solidFill>
                <a:latin typeface="DM Sans"/>
              </a:rPr>
              <a:t>•  Eine Anlaufstelle für Werkstatt, Büro und IT (Intake Agent)</a:t>
            </a:r>
          </a:p>
          <a:p>
            <a:pPr>
              <a:lnSpc>
                <a:spcPct val="130000"/>
              </a:lnSpc>
              <a:spcBef>
                <a:spcPts val="0"/>
              </a:spcBef>
              <a:spcAft>
                <a:spcPts val="900"/>
              </a:spcAft>
            </a:pPr>
            <a:r>
              <a:rPr sz="1300" b="0">
                <a:solidFill>
                  <a:srgbClr val="204540"/>
                </a:solidFill>
                <a:latin typeface="DM Sans"/>
              </a:rPr>
              <a:t>•  Integrierte Punch-out-Kataloge für die bestehenden Lieferanten</a:t>
            </a:r>
          </a:p>
          <a:p>
            <a:pPr>
              <a:lnSpc>
                <a:spcPct val="130000"/>
              </a:lnSpc>
              <a:spcBef>
                <a:spcPts val="0"/>
              </a:spcBef>
              <a:spcAft>
                <a:spcPts val="900"/>
              </a:spcAft>
            </a:pPr>
            <a:r>
              <a:rPr sz="1300" b="0">
                <a:solidFill>
                  <a:srgbClr val="204540"/>
                </a:solidFill>
                <a:latin typeface="DM Sans"/>
              </a:rPr>
              <a:t>•  Preisvergleich der angebundenen Lieferanten im System (Comparison Agent)</a:t>
            </a:r>
          </a:p>
          <a:p>
            <a:pPr>
              <a:lnSpc>
                <a:spcPct val="130000"/>
              </a:lnSpc>
              <a:spcBef>
                <a:spcPts val="0"/>
              </a:spcBef>
              <a:spcAft>
                <a:spcPts val="900"/>
              </a:spcAft>
            </a:pPr>
            <a:r>
              <a:rPr sz="1300" b="0">
                <a:solidFill>
                  <a:srgbClr val="204540"/>
                </a:solidFill>
                <a:latin typeface="DM Sans"/>
              </a:rPr>
              <a:t>•  Kostenstelle und Sachkonto schon bei der Anforderung (Category Agent)</a:t>
            </a:r>
          </a:p>
          <a:p>
            <a:pPr>
              <a:lnSpc>
                <a:spcPct val="130000"/>
              </a:lnSpc>
              <a:spcBef>
                <a:spcPts val="0"/>
              </a:spcBef>
              <a:spcAft>
                <a:spcPts val="900"/>
              </a:spcAft>
            </a:pPr>
            <a:r>
              <a:rPr sz="1300" b="0">
                <a:solidFill>
                  <a:srgbClr val="204540"/>
                </a:solidFill>
                <a:latin typeface="DM Sans"/>
              </a:rPr>
              <a:t>•  Freigaben nach Wert, Warengruppe und Kostenstelle (Approval Agent)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40060" y="972000"/>
            <a:ext cx="5268060" cy="5310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3E9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240060" y="972000"/>
            <a:ext cx="57600" cy="5310000"/>
          </a:xfrm>
          <a:prstGeom prst="rect">
            <a:avLst/>
          </a:prstGeom>
          <a:solidFill>
            <a:srgbClr val="228C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64060" y="1296000"/>
            <a:ext cx="4620060" cy="4662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900"/>
              </a:spcAft>
            </a:pPr>
            <a:r>
              <a:rPr sz="1300" b="0">
                <a:solidFill>
                  <a:srgbClr val="204540"/>
                </a:solidFill>
                <a:latin typeface="DM Sans"/>
              </a:rPr>
              <a:t>•  Freigabe direkt aus MS Teams heraus (MS Teams Agent)</a:t>
            </a:r>
          </a:p>
          <a:p>
            <a:pPr>
              <a:lnSpc>
                <a:spcPct val="130000"/>
              </a:lnSpc>
              <a:spcBef>
                <a:spcPts val="0"/>
              </a:spcBef>
              <a:spcAft>
                <a:spcPts val="900"/>
              </a:spcAft>
            </a:pPr>
            <a:r>
              <a:rPr sz="1300" b="0">
                <a:solidFill>
                  <a:srgbClr val="204540"/>
                </a:solidFill>
                <a:latin typeface="DM Sans"/>
              </a:rPr>
              <a:t>•  Wareneingang mit Lieferschein und Schadensmeldung dokumentieren</a:t>
            </a:r>
          </a:p>
          <a:p>
            <a:pPr>
              <a:lnSpc>
                <a:spcPct val="130000"/>
              </a:lnSpc>
              <a:spcBef>
                <a:spcPts val="0"/>
              </a:spcBef>
              <a:spcAft>
                <a:spcPts val="900"/>
              </a:spcAft>
            </a:pPr>
            <a:r>
              <a:rPr sz="1300" b="0">
                <a:solidFill>
                  <a:srgbClr val="204540"/>
                </a:solidFill>
                <a:latin typeface="DM Sans"/>
              </a:rPr>
              <a:t>•  Bestelldaten an d.velop D3, Rechnungen laufen dunkel durch (Invoice Agent)</a:t>
            </a:r>
          </a:p>
          <a:p>
            <a:pPr>
              <a:lnSpc>
                <a:spcPct val="130000"/>
              </a:lnSpc>
              <a:spcBef>
                <a:spcPts val="0"/>
              </a:spcBef>
              <a:spcAft>
                <a:spcPts val="900"/>
              </a:spcAft>
            </a:pPr>
            <a:r>
              <a:rPr sz="1300" b="0">
                <a:solidFill>
                  <a:srgbClr val="204540"/>
                </a:solidFill>
                <a:latin typeface="DM Sans"/>
              </a:rPr>
              <a:t>•  Ausgaben nach Lieferant und Warengruppe auswerten (Analytics Agent)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20" cy="6858000"/>
          </a:xfrm>
          <a:prstGeom prst="rect">
            <a:avLst/>
          </a:prstGeom>
          <a:solidFill>
            <a:srgbClr val="FBF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4000" y="576000"/>
            <a:ext cx="10824120" cy="28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228C7D"/>
                </a:solidFill>
                <a:latin typeface="DM Sans"/>
              </a:rPr>
              <a:t>VORTEILE FÜR BEDARFSTRÄGER UND DEN EINKAUF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84000" y="972000"/>
            <a:ext cx="5268060" cy="5310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3E9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84000" y="972000"/>
            <a:ext cx="57600" cy="5310000"/>
          </a:xfrm>
          <a:prstGeom prst="rect">
            <a:avLst/>
          </a:prstGeom>
          <a:solidFill>
            <a:srgbClr val="228C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936000" y="1224000"/>
            <a:ext cx="396000" cy="396000"/>
          </a:xfrm>
          <a:prstGeom prst="roundRect">
            <a:avLst>
              <a:gd name="adj" fmla="val 6000"/>
            </a:avLst>
          </a:prstGeom>
          <a:solidFill>
            <a:srgbClr val="2045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F1FF45"/>
                </a:solidFill>
                <a:latin typeface="DM Sans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440000" y="1260000"/>
            <a:ext cx="4260060" cy="57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>
                <a:solidFill>
                  <a:srgbClr val="204540"/>
                </a:solidFill>
                <a:latin typeface="Frank Ruhl Libre"/>
              </a:rPr>
              <a:t>Mitarbeitende / Bedarfsträger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36000" y="1980000"/>
            <a:ext cx="4764060" cy="343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700"/>
              </a:spcAft>
            </a:pPr>
            <a:r>
              <a:rPr sz="1300" b="0">
                <a:solidFill>
                  <a:srgbClr val="204540"/>
                </a:solidFill>
                <a:latin typeface="DM Sans"/>
              </a:rPr>
              <a:t>•  Bedarfe werden direkt im System angefordert (Intake Agent).</a:t>
            </a:r>
          </a:p>
          <a:p>
            <a:pPr>
              <a:lnSpc>
                <a:spcPct val="130000"/>
              </a:lnSpc>
              <a:spcBef>
                <a:spcPts val="0"/>
              </a:spcBef>
              <a:spcAft>
                <a:spcPts val="700"/>
              </a:spcAft>
            </a:pPr>
            <a:r>
              <a:rPr sz="1300" b="0">
                <a:solidFill>
                  <a:srgbClr val="204540"/>
                </a:solidFill>
                <a:latin typeface="DM Sans"/>
              </a:rPr>
              <a:t>•  Freigaben und Statusinfos laufen über MS Teams (MS Teams Agent, Status Agent).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36000" y="5490000"/>
            <a:ext cx="792000" cy="252000"/>
          </a:xfrm>
          <a:prstGeom prst="roundRect">
            <a:avLst>
              <a:gd name="adj" fmla="val 6000"/>
            </a:avLst>
          </a:prstGeom>
          <a:solidFill>
            <a:srgbClr val="F1FF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00" b="1">
                <a:solidFill>
                  <a:srgbClr val="204540"/>
                </a:solidFill>
                <a:latin typeface="DM Sans"/>
              </a:rPr>
              <a:t>IMPACT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36000" y="5472000"/>
            <a:ext cx="3828060" cy="57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3E5B56"/>
                </a:solidFill>
                <a:latin typeface="DM Sans"/>
              </a:rPr>
              <a:t>Der Weg vom Bedarf zur Bestellung ist überall derselbe.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40060" y="972000"/>
            <a:ext cx="5268060" cy="5310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3E9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240060" y="972000"/>
            <a:ext cx="57600" cy="5310000"/>
          </a:xfrm>
          <a:prstGeom prst="rect">
            <a:avLst/>
          </a:prstGeom>
          <a:solidFill>
            <a:srgbClr val="228C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492060" y="1224000"/>
            <a:ext cx="396000" cy="396000"/>
          </a:xfrm>
          <a:prstGeom prst="roundRect">
            <a:avLst>
              <a:gd name="adj" fmla="val 6000"/>
            </a:avLst>
          </a:prstGeom>
          <a:solidFill>
            <a:srgbClr val="2045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F1FF45"/>
                </a:solidFill>
                <a:latin typeface="DM Sans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96060" y="1260000"/>
            <a:ext cx="4260060" cy="57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>
                <a:solidFill>
                  <a:srgbClr val="204540"/>
                </a:solidFill>
                <a:latin typeface="Frank Ruhl Libre"/>
              </a:rPr>
              <a:t>Einkauf / Administration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92060" y="1980000"/>
            <a:ext cx="4764060" cy="343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700"/>
              </a:spcAft>
            </a:pPr>
            <a:r>
              <a:rPr sz="1300" b="0">
                <a:solidFill>
                  <a:srgbClr val="204540"/>
                </a:solidFill>
                <a:latin typeface="DM Sans"/>
              </a:rPr>
              <a:t>•  Der Preisvergleich der angebundenen Lieferanten passiert im System (Comparison Agent).</a:t>
            </a:r>
          </a:p>
          <a:p>
            <a:pPr>
              <a:lnSpc>
                <a:spcPct val="130000"/>
              </a:lnSpc>
              <a:spcBef>
                <a:spcPts val="0"/>
              </a:spcBef>
              <a:spcAft>
                <a:spcPts val="700"/>
              </a:spcAft>
            </a:pPr>
            <a:r>
              <a:rPr sz="1300" b="0">
                <a:solidFill>
                  <a:srgbClr val="204540"/>
                </a:solidFill>
                <a:latin typeface="DM Sans"/>
              </a:rPr>
              <a:t>•  Freigaben laufen regelbasiert, die Bestellung löst danach aus (Approval Agent).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92060" y="5490000"/>
            <a:ext cx="792000" cy="252000"/>
          </a:xfrm>
          <a:prstGeom prst="roundRect">
            <a:avLst>
              <a:gd name="adj" fmla="val 6000"/>
            </a:avLst>
          </a:prstGeom>
          <a:solidFill>
            <a:srgbClr val="F1FF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00" b="1">
                <a:solidFill>
                  <a:srgbClr val="204540"/>
                </a:solidFill>
                <a:latin typeface="DM Sans"/>
              </a:rPr>
              <a:t>IMPACT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392060" y="5472000"/>
            <a:ext cx="3828060" cy="57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3E5B56"/>
                </a:solidFill>
                <a:latin typeface="DM Sans"/>
              </a:rPr>
              <a:t>Suchen, Vergleichen und Bestellen von Hand entfällt für die meisten Bestellungen.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20" cy="6858000"/>
          </a:xfrm>
          <a:prstGeom prst="rect">
            <a:avLst/>
          </a:prstGeom>
          <a:solidFill>
            <a:srgbClr val="FBF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4000" y="576000"/>
            <a:ext cx="10824120" cy="28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228C7D"/>
                </a:solidFill>
                <a:latin typeface="DM Sans"/>
              </a:rPr>
              <a:t>VORTEILE FÜR FINANCE &amp; CONTROLLING UND DIE GESCHÄFTSFÜHRUNG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84000" y="972000"/>
            <a:ext cx="5268060" cy="5310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3E9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84000" y="972000"/>
            <a:ext cx="57600" cy="5310000"/>
          </a:xfrm>
          <a:prstGeom prst="rect">
            <a:avLst/>
          </a:prstGeom>
          <a:solidFill>
            <a:srgbClr val="228C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936000" y="1224000"/>
            <a:ext cx="396000" cy="396000"/>
          </a:xfrm>
          <a:prstGeom prst="roundRect">
            <a:avLst>
              <a:gd name="adj" fmla="val 6000"/>
            </a:avLst>
          </a:prstGeom>
          <a:solidFill>
            <a:srgbClr val="2045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F1FF45"/>
                </a:solidFill>
                <a:latin typeface="DM Sans"/>
              </a:rPr>
              <a:t>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440000" y="1260000"/>
            <a:ext cx="4260060" cy="57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>
                <a:solidFill>
                  <a:srgbClr val="204540"/>
                </a:solidFill>
                <a:latin typeface="Frank Ruhl Libre"/>
              </a:rPr>
              <a:t>Finance / Controlling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36000" y="1980000"/>
            <a:ext cx="4764060" cy="343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700"/>
              </a:spcAft>
            </a:pPr>
            <a:r>
              <a:rPr sz="1300" b="0">
                <a:solidFill>
                  <a:srgbClr val="204540"/>
                </a:solidFill>
                <a:latin typeface="DM Sans"/>
              </a:rPr>
              <a:t>•  Kostenstelle und Sachkonto stehen schon bei der Anforderung fest (Accounting Agent).</a:t>
            </a:r>
          </a:p>
          <a:p>
            <a:pPr>
              <a:lnSpc>
                <a:spcPct val="130000"/>
              </a:lnSpc>
              <a:spcBef>
                <a:spcPts val="0"/>
              </a:spcBef>
              <a:spcAft>
                <a:spcPts val="700"/>
              </a:spcAft>
            </a:pPr>
            <a:r>
              <a:rPr sz="1300" b="0">
                <a:solidFill>
                  <a:srgbClr val="204540"/>
                </a:solidFill>
                <a:latin typeface="DM Sans"/>
              </a:rPr>
              <a:t>•  Bestelldaten gehen an d.velop D3, Rechnungen mit Bestellbezug laufen durch (Invoice Agent).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36000" y="5490000"/>
            <a:ext cx="792000" cy="252000"/>
          </a:xfrm>
          <a:prstGeom prst="roundRect">
            <a:avLst>
              <a:gd name="adj" fmla="val 6000"/>
            </a:avLst>
          </a:prstGeom>
          <a:solidFill>
            <a:srgbClr val="F1FF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00" b="1">
                <a:solidFill>
                  <a:srgbClr val="204540"/>
                </a:solidFill>
                <a:latin typeface="DM Sans"/>
              </a:rPr>
              <a:t>IMPACT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36000" y="5472000"/>
            <a:ext cx="3828060" cy="57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3E5B56"/>
                </a:solidFill>
                <a:latin typeface="DM Sans"/>
              </a:rPr>
              <a:t>Rechnungen werden nur noch bei Abweichungen von Hand geprüft.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40060" y="972000"/>
            <a:ext cx="5268060" cy="5310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3E9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240060" y="972000"/>
            <a:ext cx="57600" cy="5310000"/>
          </a:xfrm>
          <a:prstGeom prst="rect">
            <a:avLst/>
          </a:prstGeom>
          <a:solidFill>
            <a:srgbClr val="228C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492060" y="1224000"/>
            <a:ext cx="396000" cy="396000"/>
          </a:xfrm>
          <a:prstGeom prst="roundRect">
            <a:avLst>
              <a:gd name="adj" fmla="val 6000"/>
            </a:avLst>
          </a:prstGeom>
          <a:solidFill>
            <a:srgbClr val="2045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F1FF45"/>
                </a:solidFill>
                <a:latin typeface="DM Sans"/>
              </a:rPr>
              <a:t>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96060" y="1260000"/>
            <a:ext cx="4260060" cy="57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>
                <a:solidFill>
                  <a:srgbClr val="204540"/>
                </a:solidFill>
                <a:latin typeface="Frank Ruhl Libre"/>
              </a:rPr>
              <a:t>Geschäftsführung / Management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92060" y="1980000"/>
            <a:ext cx="4764060" cy="343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700"/>
              </a:spcAft>
            </a:pPr>
            <a:r>
              <a:rPr sz="1300" b="0">
                <a:solidFill>
                  <a:srgbClr val="204540"/>
                </a:solidFill>
                <a:latin typeface="DM Sans"/>
              </a:rPr>
              <a:t>•  Ausgaben nach Lieferant, Warengruppe und Zeitraum sind auswertbar (Analytics Agent).</a:t>
            </a:r>
          </a:p>
          <a:p>
            <a:pPr>
              <a:lnSpc>
                <a:spcPct val="130000"/>
              </a:lnSpc>
              <a:spcBef>
                <a:spcPts val="0"/>
              </a:spcBef>
              <a:spcAft>
                <a:spcPts val="700"/>
              </a:spcAft>
            </a:pPr>
            <a:r>
              <a:rPr sz="1300" b="0">
                <a:solidFill>
                  <a:srgbClr val="204540"/>
                </a:solidFill>
                <a:latin typeface="DM Sans"/>
              </a:rPr>
              <a:t>•  Leitplanken halten Bestellungen im freigegebenen Rahmen (Compliance Agent).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92060" y="5490000"/>
            <a:ext cx="792000" cy="252000"/>
          </a:xfrm>
          <a:prstGeom prst="roundRect">
            <a:avLst>
              <a:gd name="adj" fmla="val 6000"/>
            </a:avLst>
          </a:prstGeom>
          <a:solidFill>
            <a:srgbClr val="F1FF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00" b="1">
                <a:solidFill>
                  <a:srgbClr val="204540"/>
                </a:solidFill>
                <a:latin typeface="DM Sans"/>
              </a:rPr>
              <a:t>IMPACT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392060" y="5472000"/>
            <a:ext cx="3828060" cy="57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3E5B56"/>
                </a:solidFill>
                <a:latin typeface="DM Sans"/>
              </a:rPr>
              <a:t>Die Zahlen für den Business Case entstehen im laufenden Betrieb.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20" cy="6858000"/>
          </a:xfrm>
          <a:prstGeom prst="rect">
            <a:avLst/>
          </a:prstGeom>
          <a:solidFill>
            <a:srgbClr val="FBF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4000" y="576000"/>
            <a:ext cx="10824120" cy="28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228C7D"/>
                </a:solidFill>
                <a:latin typeface="DM Sans"/>
              </a:rPr>
              <a:t>ZUSAMMENFASSUNG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84000" y="972000"/>
            <a:ext cx="10824120" cy="1584000"/>
          </a:xfrm>
          <a:prstGeom prst="roundRect">
            <a:avLst>
              <a:gd name="adj" fmla="val 6000"/>
            </a:avLst>
          </a:prstGeom>
          <a:solidFill>
            <a:srgbClr val="2045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84000" y="972000"/>
            <a:ext cx="72000" cy="1584000"/>
          </a:xfrm>
          <a:prstGeom prst="rect">
            <a:avLst/>
          </a:prstGeom>
          <a:solidFill>
            <a:srgbClr val="F1FF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44000" y="1260000"/>
            <a:ext cx="10104120" cy="108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FFFFFF"/>
                </a:solidFill>
                <a:latin typeface="Frank Ruhl Libre"/>
              </a:rPr>
              <a:t>Wiedmann &amp; Winz erhält einen einheitlichen Bestellweg für alle Abteilungen, der Preisvergleich läuft im System statt von Hand, und die Ausgaben werden auswertbar.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4000" y="2844000"/>
            <a:ext cx="5196060" cy="252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228C7D"/>
                </a:solidFill>
                <a:latin typeface="DM Sans"/>
              </a:rPr>
              <a:t>ZAHLENBASIS AUS DEM GESPRÄCH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4000" y="3168000"/>
            <a:ext cx="5196060" cy="165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  <a:spcBef>
                <a:spcPts val="0"/>
              </a:spcBef>
              <a:spcAft>
                <a:spcPts val="500"/>
              </a:spcAft>
            </a:pPr>
            <a:r>
              <a:rPr sz="1200" b="0">
                <a:solidFill>
                  <a:srgbClr val="3E5B56"/>
                </a:solidFill>
                <a:latin typeface="DM Sans"/>
              </a:rPr>
              <a:t>•  ca. 10 Nutzer würden im System arbeiten (belegt)</a:t>
            </a:r>
          </a:p>
          <a:p>
            <a:pPr>
              <a:lnSpc>
                <a:spcPct val="125000"/>
              </a:lnSpc>
              <a:spcBef>
                <a:spcPts val="0"/>
              </a:spcBef>
              <a:spcAft>
                <a:spcPts val="500"/>
              </a:spcAft>
            </a:pPr>
            <a:r>
              <a:rPr sz="1200" b="0">
                <a:solidFill>
                  <a:srgbClr val="3E5B56"/>
                </a:solidFill>
                <a:latin typeface="DM Sans"/>
              </a:rPr>
              <a:t>•  Preisvergleich heute bei 2 bis 4 Anbietern (belegt)</a:t>
            </a:r>
          </a:p>
          <a:p>
            <a:pPr>
              <a:lnSpc>
                <a:spcPct val="125000"/>
              </a:lnSpc>
              <a:spcBef>
                <a:spcPts val="0"/>
              </a:spcBef>
              <a:spcAft>
                <a:spcPts val="500"/>
              </a:spcAft>
            </a:pPr>
            <a:r>
              <a:rPr sz="1200" b="0">
                <a:solidFill>
                  <a:srgbClr val="3E5B56"/>
                </a:solidFill>
                <a:latin typeface="DM Sans"/>
              </a:rPr>
              <a:t>•  Vorgänge mit 4.000 bis 10.000 Euro genannt (belegt)</a:t>
            </a:r>
          </a:p>
          <a:p>
            <a:pPr>
              <a:lnSpc>
                <a:spcPct val="125000"/>
              </a:lnSpc>
              <a:spcBef>
                <a:spcPts val="0"/>
              </a:spcBef>
              <a:spcAft>
                <a:spcPts val="500"/>
              </a:spcAft>
            </a:pPr>
            <a:r>
              <a:rPr sz="1200" b="0">
                <a:solidFill>
                  <a:srgbClr val="3E5B56"/>
                </a:solidFill>
                <a:latin typeface="DM Sans"/>
              </a:rPr>
              <a:t>•  Einsparung durch Bündelung und Preisvergleich (annahme)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312060" y="2844000"/>
            <a:ext cx="5196060" cy="252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228C7D"/>
                </a:solidFill>
                <a:latin typeface="DM Sans"/>
              </a:rPr>
              <a:t>ANNAHMEN UND OFFENE PUNKTE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12060" y="3168000"/>
            <a:ext cx="5196060" cy="165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  <a:spcBef>
                <a:spcPts val="0"/>
              </a:spcBef>
              <a:spcAft>
                <a:spcPts val="500"/>
              </a:spcAft>
            </a:pPr>
            <a:r>
              <a:rPr sz="1200" b="0">
                <a:solidFill>
                  <a:srgbClr val="3E5B56"/>
                </a:solidFill>
                <a:latin typeface="DM Sans"/>
              </a:rPr>
              <a:t>•  Bestellungen pro Monat und Einkaufsvolumen sind noch offen.</a:t>
            </a:r>
          </a:p>
          <a:p>
            <a:pPr>
              <a:lnSpc>
                <a:spcPct val="125000"/>
              </a:lnSpc>
              <a:spcBef>
                <a:spcPts val="0"/>
              </a:spcBef>
              <a:spcAft>
                <a:spcPts val="500"/>
              </a:spcAft>
            </a:pPr>
            <a:r>
              <a:rPr sz="1200" b="0">
                <a:solidFill>
                  <a:srgbClr val="3E5B56"/>
                </a:solidFill>
                <a:latin typeface="DM Sans"/>
              </a:rPr>
              <a:t>•  Das angepasste Angebot ohne ERP-Schnittstelle steht aus.</a:t>
            </a:r>
          </a:p>
          <a:p>
            <a:pPr>
              <a:lnSpc>
                <a:spcPct val="125000"/>
              </a:lnSpc>
              <a:spcBef>
                <a:spcPts val="0"/>
              </a:spcBef>
              <a:spcAft>
                <a:spcPts val="500"/>
              </a:spcAft>
            </a:pPr>
            <a:r>
              <a:rPr sz="1200" b="0">
                <a:solidFill>
                  <a:srgbClr val="3E5B56"/>
                </a:solidFill>
                <a:latin typeface="DM Sans"/>
              </a:rPr>
              <a:t>•  Ein freier Preisvergleich im Internet ist heute nicht möglich.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84000" y="5706000"/>
            <a:ext cx="10824120" cy="684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3E9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72000" y="5904000"/>
            <a:ext cx="7584120" cy="432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204540"/>
                </a:solidFill>
                <a:latin typeface="DM Sans"/>
              </a:rPr>
              <a:t>Im Testzugang sehen Sie den Ablauf mit Ihren eigenen Bedarfen, im Folgetermin am 24. September ordnen wir die Zahlen ein.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988120" y="5868000"/>
            <a:ext cx="2232000" cy="360000"/>
          </a:xfrm>
          <a:prstGeom prst="roundRect">
            <a:avLst>
              <a:gd name="adj" fmla="val 6000"/>
            </a:avLst>
          </a:prstGeom>
          <a:solidFill>
            <a:srgbClr val="F1FF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204540"/>
                </a:solidFill>
                <a:latin typeface="DM Sans"/>
                <a:hlinkClick r:id="rId2"/>
              </a:rPr>
              <a:t>Folgetermin vereinbaren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