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12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5" Type="http://schemas.openxmlformats.org/officeDocument/2006/relationships/theme" Target="theme/theme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hivebuy.com/kontakt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204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F1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4000" y="1512000"/>
            <a:ext cx="1082412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1FF45"/>
                </a:solidFill>
                <a:latin typeface="DM Sans"/>
              </a:rPr>
              <a:t>IMPACT LADDER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4000" y="2016000"/>
            <a:ext cx="8640000" cy="21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>
                <a:solidFill>
                  <a:srgbClr val="FFFFFF"/>
                </a:solidFill>
                <a:latin typeface="Frank Ruhl Libre"/>
              </a:rPr>
              <a:t>Was Hivebuy für Frosta bewirkt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4000" y="4464000"/>
            <a:ext cx="8640000" cy="86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DM Sans"/>
              </a:rPr>
              <a:t>Erstellt für Christoph Buck</a:t>
            </a: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DM Sans"/>
              </a:rPr>
              <a:t>Basierend auf unserem Gespräch am 10.09.2026</a:t>
            </a: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E3E9E7"/>
                </a:solidFill>
                <a:latin typeface="DM Sans"/>
              </a:rPr>
              <a:t>Stand: 10.09.2026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4000" y="576000"/>
            <a:ext cx="1082412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28C7D"/>
                </a:solidFill>
                <a:latin typeface="DM Sans"/>
              </a:rPr>
              <a:t>AKTUELLE OPTIMIERUNGSPOTENZIALE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4000" y="972000"/>
            <a:ext cx="10824120" cy="104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4000" y="972000"/>
            <a:ext cx="57600" cy="1044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6000" y="1170000"/>
            <a:ext cx="1032012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4540"/>
                </a:solidFill>
                <a:latin typeface="DM Sans"/>
              </a:rPr>
              <a:t>Indirekter Einkauf läuft dezentral</a:t>
            </a:r>
          </a:p>
          <a:p>
            <a:pPr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>
                <a:solidFill>
                  <a:srgbClr val="3E5B56"/>
                </a:solidFill>
                <a:latin typeface="DM Sans"/>
              </a:rPr>
              <a:t>Jede Abteilung bestellt selbst, nach eigenem Ermessen.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4000" y="2232000"/>
            <a:ext cx="10824120" cy="104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4000" y="2232000"/>
            <a:ext cx="57600" cy="1044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6000" y="2430000"/>
            <a:ext cx="1032012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4540"/>
                </a:solidFill>
                <a:latin typeface="DM Sans"/>
              </a:rPr>
              <a:t>Keine Transparenz über die Ausgaben</a:t>
            </a:r>
          </a:p>
          <a:p>
            <a:pPr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>
                <a:solidFill>
                  <a:srgbClr val="3E5B56"/>
                </a:solidFill>
                <a:latin typeface="DM Sans"/>
              </a:rPr>
              <a:t>Ohne harmonisierten Prozess fehlt die Sicht auf den Spend.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4000" y="3492000"/>
            <a:ext cx="10824120" cy="104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4000" y="3492000"/>
            <a:ext cx="57600" cy="1044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6000" y="3690000"/>
            <a:ext cx="1032012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4540"/>
                </a:solidFill>
                <a:latin typeface="DM Sans"/>
              </a:rPr>
              <a:t>Bedarfe werden von Hand in SAP getippt</a:t>
            </a:r>
          </a:p>
          <a:p>
            <a:pPr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>
                <a:solidFill>
                  <a:srgbClr val="3E5B56"/>
                </a:solidFill>
                <a:latin typeface="DM Sans"/>
              </a:rPr>
              <a:t>Amazon-Warenkörbe werden als BANF nacherfasst, dann freigegeben.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4000" y="4752000"/>
            <a:ext cx="10824120" cy="104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4000" y="4752000"/>
            <a:ext cx="57600" cy="1044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6000" y="4950000"/>
            <a:ext cx="1032012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4540"/>
                </a:solidFill>
                <a:latin typeface="DM Sans"/>
              </a:rPr>
              <a:t>Zuständigkeit ist ungeklärt</a:t>
            </a:r>
          </a:p>
          <a:p>
            <a:pPr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>
                <a:solidFill>
                  <a:srgbClr val="3E5B56"/>
                </a:solidFill>
                <a:latin typeface="DM Sans"/>
              </a:rPr>
              <a:t>Für den indirekten Einkauf gibt es bisher keinen Verantwortlichen.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4000" y="576000"/>
            <a:ext cx="1082412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28C7D"/>
                </a:solidFill>
                <a:latin typeface="DM Sans"/>
              </a:rPr>
              <a:t>WIE OPTIMIERT HIVEBUY DEN PROZESS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4000" y="972000"/>
            <a:ext cx="5268060" cy="53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4000" y="972000"/>
            <a:ext cx="57600" cy="5310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8000" y="1296000"/>
            <a:ext cx="4620060" cy="46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Einheitliches Frontend für alle Bedarfsträger, Lieferanten je Abteilung hinterlegt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Punchout zu Amazon, Engelbert Strauss und weiteren: Warenkorb geht direkt in die Freigabe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BANF und Bestellung entstehen nach der Freigabe automatisch in SAP S/4HANA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Wareneingang ist gegenbuchbar, SAP bleibt das führende System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Freigabehierarchien selbst konfigurierbar nach Betrag, Abteilung und Stufe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0060" y="972000"/>
            <a:ext cx="5268060" cy="53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40060" y="972000"/>
            <a:ext cx="57600" cy="5310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64060" y="1296000"/>
            <a:ext cx="4620060" cy="46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Kostenstelle und Sachkonto sind automatisch hinterlegt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Budgetcheck integrierbar, Freigaben auch aus Microsoft Teams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KI-Chatbot für Produktsuche und Ausgaben nach Abteilung und Quartal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Englisch als Arbeitssprache, dazu Deutsch, Spanisch, Französisch, Finnisch, Türkisch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4000" y="576000"/>
            <a:ext cx="1082412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28C7D"/>
                </a:solidFill>
                <a:latin typeface="DM Sans"/>
              </a:rPr>
              <a:t>VORTEILE FÜR BEDARFSTRÄGER UND DEN EINKAUF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4000" y="972000"/>
            <a:ext cx="5268060" cy="53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4000" y="972000"/>
            <a:ext cx="57600" cy="5310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6000" y="1224000"/>
            <a:ext cx="396000" cy="396000"/>
          </a:xfrm>
          <a:prstGeom prst="roundRect">
            <a:avLst>
              <a:gd name="adj" fmla="val 6000"/>
            </a:avLst>
          </a:prstGeom>
          <a:solidFill>
            <a:srgbClr val="204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1FF45"/>
                </a:solidFill>
                <a:latin typeface="DM San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0000" y="1260000"/>
            <a:ext cx="4260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4540"/>
                </a:solidFill>
                <a:latin typeface="Frank Ruhl Libre"/>
              </a:rPr>
              <a:t>Mitarbeitende / Bedarfsträger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6000" y="1980000"/>
            <a:ext cx="4764060" cy="343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Bedarfe entstehen im Frontend, ohne SAP-Kenntnisse und ohne Umweg (Intake Agent).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Der Amazon-Warenkorb wandert direkt in die Freigabe, statt neu getippt zu werden.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6000" y="5490000"/>
            <a:ext cx="792000" cy="252000"/>
          </a:xfrm>
          <a:prstGeom prst="roundRect">
            <a:avLst>
              <a:gd name="adj" fmla="val 6000"/>
            </a:avLst>
          </a:prstGeom>
          <a:solidFill>
            <a:srgbClr val="F1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204540"/>
                </a:solidFill>
                <a:latin typeface="DM Sans"/>
              </a:rPr>
              <a:t>IMPACT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36000" y="5472000"/>
            <a:ext cx="3828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5B56"/>
                </a:solidFill>
                <a:latin typeface="DM Sans"/>
              </a:rPr>
              <a:t>Jede Abteilung nutzt denselben Weg, statt sich einen eigenen zu bauen.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0060" y="972000"/>
            <a:ext cx="5268060" cy="53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0060" y="972000"/>
            <a:ext cx="57600" cy="5310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060" y="1224000"/>
            <a:ext cx="396000" cy="396000"/>
          </a:xfrm>
          <a:prstGeom prst="roundRect">
            <a:avLst>
              <a:gd name="adj" fmla="val 6000"/>
            </a:avLst>
          </a:prstGeom>
          <a:solidFill>
            <a:srgbClr val="204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1FF45"/>
                </a:solidFill>
                <a:latin typeface="DM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6060" y="1260000"/>
            <a:ext cx="4260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4540"/>
                </a:solidFill>
                <a:latin typeface="Frank Ruhl Libre"/>
              </a:rPr>
              <a:t>Einkauf / Administration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060" y="1980000"/>
            <a:ext cx="4764060" cy="343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Freigabestufen sind nach Betrag und Abteilung selbst konfigurierbar (Approval Agent).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Die manuelle Übertragung der Bedarfe nach SAP entfällt vollständig.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060" y="5490000"/>
            <a:ext cx="792000" cy="252000"/>
          </a:xfrm>
          <a:prstGeom prst="roundRect">
            <a:avLst>
              <a:gd name="adj" fmla="val 6000"/>
            </a:avLst>
          </a:prstGeom>
          <a:solidFill>
            <a:srgbClr val="F1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204540"/>
                </a:solidFill>
                <a:latin typeface="DM Sans"/>
              </a:rPr>
              <a:t>IMPACT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92060" y="5472000"/>
            <a:ext cx="3828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5B56"/>
                </a:solidFill>
                <a:latin typeface="DM Sans"/>
              </a:rPr>
              <a:t>Der indirekte Einkauf wird steuerbar, bevor die neue Zuständigkeit greift.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4000" y="576000"/>
            <a:ext cx="1082412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28C7D"/>
                </a:solidFill>
                <a:latin typeface="DM Sans"/>
              </a:rPr>
              <a:t>VORTEILE FÜR FINANCE &amp; CONTROLLING UND DIE GESCHÄFTSFÜHRUNG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4000" y="972000"/>
            <a:ext cx="5268060" cy="53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4000" y="972000"/>
            <a:ext cx="57600" cy="5310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6000" y="1224000"/>
            <a:ext cx="396000" cy="396000"/>
          </a:xfrm>
          <a:prstGeom prst="roundRect">
            <a:avLst>
              <a:gd name="adj" fmla="val 6000"/>
            </a:avLst>
          </a:prstGeom>
          <a:solidFill>
            <a:srgbClr val="204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1FF45"/>
                </a:solidFill>
                <a:latin typeface="DM Sans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0000" y="1260000"/>
            <a:ext cx="4260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4540"/>
                </a:solidFill>
                <a:latin typeface="Frank Ruhl Libre"/>
              </a:rPr>
              <a:t>Finance / Controlling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6000" y="1980000"/>
            <a:ext cx="4764060" cy="343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Kostenstelle und Sachkonto stehen bei der Anforderung fest (Accounting Agent).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BANF und Bestellung entstehen automatisch in S/4HANA, Wareneingang gegenbuchbar.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6000" y="5490000"/>
            <a:ext cx="792000" cy="252000"/>
          </a:xfrm>
          <a:prstGeom prst="roundRect">
            <a:avLst>
              <a:gd name="adj" fmla="val 6000"/>
            </a:avLst>
          </a:prstGeom>
          <a:solidFill>
            <a:srgbClr val="F1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204540"/>
                </a:solidFill>
                <a:latin typeface="DM Sans"/>
              </a:rPr>
              <a:t>IMPACT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36000" y="5472000"/>
            <a:ext cx="3828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5B56"/>
                </a:solidFill>
                <a:latin typeface="DM Sans"/>
              </a:rPr>
              <a:t>Keine Doppelerfassung, SAP bleibt führend und der Budgetcheck greift vorher.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0060" y="972000"/>
            <a:ext cx="5268060" cy="53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0060" y="972000"/>
            <a:ext cx="57600" cy="5310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060" y="1224000"/>
            <a:ext cx="396000" cy="396000"/>
          </a:xfrm>
          <a:prstGeom prst="roundRect">
            <a:avLst>
              <a:gd name="adj" fmla="val 6000"/>
            </a:avLst>
          </a:prstGeom>
          <a:solidFill>
            <a:srgbClr val="204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1FF45"/>
                </a:solidFill>
                <a:latin typeface="DM Sans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6060" y="1260000"/>
            <a:ext cx="4260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4540"/>
                </a:solidFill>
                <a:latin typeface="Frank Ruhl Libre"/>
              </a:rPr>
              <a:t>Geschäftsführung /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060" y="1980000"/>
            <a:ext cx="4764060" cy="343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Ausgaben sind nach Abteilung, Quartal und Lieferant auswertbar (Analytics Agent).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Der Rollout startet in Deutschland und wächst auf die weiteren Standorte.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060" y="5490000"/>
            <a:ext cx="792000" cy="252000"/>
          </a:xfrm>
          <a:prstGeom prst="roundRect">
            <a:avLst>
              <a:gd name="adj" fmla="val 6000"/>
            </a:avLst>
          </a:prstGeom>
          <a:solidFill>
            <a:srgbClr val="F1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204540"/>
                </a:solidFill>
                <a:latin typeface="DM Sans"/>
              </a:rPr>
              <a:t>IMPACT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92060" y="5472000"/>
            <a:ext cx="3828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5B56"/>
                </a:solidFill>
                <a:latin typeface="DM Sans"/>
              </a:rPr>
              <a:t>Die Prozesse entstehen auf der grünen Wiese, statt das Chaos zu digitalisieren.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4000" y="576000"/>
            <a:ext cx="1082412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28C7D"/>
                </a:solidFill>
                <a:latin typeface="DM Sans"/>
              </a:rPr>
              <a:t>ZUSAMMENFASSUNG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4000" y="972000"/>
            <a:ext cx="10824120" cy="1584000"/>
          </a:xfrm>
          <a:prstGeom prst="roundRect">
            <a:avLst>
              <a:gd name="adj" fmla="val 6000"/>
            </a:avLst>
          </a:prstGeom>
          <a:solidFill>
            <a:srgbClr val="204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4000" y="972000"/>
            <a:ext cx="72000" cy="1584000"/>
          </a:xfrm>
          <a:prstGeom prst="rect">
            <a:avLst/>
          </a:prstGeom>
          <a:solidFill>
            <a:srgbClr val="F1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4000" y="1260000"/>
            <a:ext cx="10104120" cy="10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Frank Ruhl Libre"/>
              </a:rPr>
              <a:t>Frosta bekommt einen einheitlichen Weg für den indirekten Einkauf, spart die manuelle Erfassung der Bedarfe in SAP und gewinnt Transparenz über die Ausgaben, ohne SAP S/4HANA anzutasten.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4000" y="2844000"/>
            <a:ext cx="5196060" cy="2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28C7D"/>
                </a:solidFill>
                <a:latin typeface="DM Sans"/>
              </a:rPr>
              <a:t>ZAHLENBASIS AUS DEM GESPRÄCH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4000" y="3168000"/>
            <a:ext cx="5196060" cy="16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3E5B56"/>
                </a:solidFill>
                <a:latin typeface="DM Sans"/>
              </a:rPr>
              <a:t>•  max. 400 Nutzer im System, Produktionsmitarbeitende ohne Zugriff (belegt)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3E5B56"/>
                </a:solidFill>
                <a:latin typeface="DM Sans"/>
              </a:rPr>
              <a:t>•  ca. 1.600 Mitarbeitende weltweit, 4 Werke und 5 Vertriebsbüros (belegt)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3E5B56"/>
                </a:solidFill>
                <a:latin typeface="DM Sans"/>
              </a:rPr>
              <a:t>•  indirekter Einkauf heute dezentral, ohne harmonisierten Prozess (belegt)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3E5B56"/>
                </a:solidFill>
                <a:latin typeface="DM Sans"/>
              </a:rPr>
              <a:t>•  Anzahl Bestellungen pro Monat wurde nicht genannt (offen)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12060" y="2844000"/>
            <a:ext cx="5196060" cy="2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28C7D"/>
                </a:solidFill>
                <a:latin typeface="DM Sans"/>
              </a:rPr>
              <a:t>ANNAHMEN UND OFFENE PUNKTE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12060" y="3168000"/>
            <a:ext cx="5196060" cy="16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3E5B56"/>
                </a:solidFill>
                <a:latin typeface="DM Sans"/>
              </a:rPr>
              <a:t>•  SAP Ariba bleibt beim Supplier Onboarding, das Frontend für Bedarfe ist noch offen.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3E5B56"/>
                </a:solidFill>
                <a:latin typeface="DM Sans"/>
              </a:rPr>
              <a:t>•  IT und IT-Security sind bisher nicht eingebunden, werden für die S/4-Schnittstelle gebraucht.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3E5B56"/>
                </a:solidFill>
                <a:latin typeface="DM Sans"/>
              </a:rPr>
              <a:t>•  Die verantwortliche Person für den indirekten Einkauf steht im Oktober 2026 fest.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4000" y="5706000"/>
            <a:ext cx="10824120" cy="68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2000" y="5904000"/>
            <a:ext cx="758412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04540"/>
                </a:solidFill>
                <a:latin typeface="DM Sans"/>
              </a:rPr>
              <a:t>Sie geben die Empfehlung intern weiter, im Folgetermin am 1. Oktober klären wir den Stand zur neuen Verantwortlichkeit und die nächsten Schritte.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88120" y="5868000"/>
            <a:ext cx="2232000" cy="360000"/>
          </a:xfrm>
          <a:prstGeom prst="roundRect">
            <a:avLst>
              <a:gd name="adj" fmla="val 6000"/>
            </a:avLst>
          </a:prstGeom>
          <a:solidFill>
            <a:srgbClr val="F1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04540"/>
                </a:solidFill>
                <a:latin typeface="DM Sans"/>
                <a:hlinkClick r:id="rId2"/>
              </a:rPr>
              <a:t>Folgetermin am 01.10.2026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