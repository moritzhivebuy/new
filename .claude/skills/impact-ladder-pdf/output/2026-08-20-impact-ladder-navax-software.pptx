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12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hivebuy.com/kontak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4000" y="1512000"/>
            <a:ext cx="1082412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1FF45"/>
                </a:solidFill>
                <a:latin typeface="DM Sans"/>
              </a:rPr>
              <a:t>IMPACT LADDER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4000" y="2016000"/>
            <a:ext cx="8640000" cy="21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FFFFFF"/>
                </a:solidFill>
                <a:latin typeface="Frank Ruhl Libre"/>
              </a:rPr>
              <a:t>Was Hivebuy für NAVAX Software bewirkt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4000" y="4464000"/>
            <a:ext cx="864000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DM Sans"/>
              </a:rPr>
              <a:t>Erstellt für Josef Pichler</a:t>
            </a:r>
          </a:p>
          <a:p>
            <a:pPr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DM Sans"/>
              </a:rPr>
              <a:t>Basierend auf unserem Gespräch am 20.08.2026</a:t>
            </a:r>
          </a:p>
          <a:p>
            <a:pPr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E3E9E7"/>
                </a:solidFill>
                <a:latin typeface="DM Sans"/>
              </a:rPr>
              <a:t>Stand: 20.08.2026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4000" y="576000"/>
            <a:ext cx="10824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28C7D"/>
                </a:solidFill>
                <a:latin typeface="DM Sans"/>
              </a:rPr>
              <a:t>AKTUELLE OPTIMIERUNGSPOTENZIALE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4000" y="972000"/>
            <a:ext cx="10824120" cy="10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4000" y="972000"/>
            <a:ext cx="57600" cy="1044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6000" y="1170000"/>
            <a:ext cx="1032012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04540"/>
                </a:solidFill>
                <a:latin typeface="DM Sans"/>
              </a:rPr>
              <a:t>Medienbrüche zwischen Jira, E-Mail und ERP</a:t>
            </a:r>
          </a:p>
          <a:p>
            <a:pPr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3E5B56"/>
                </a:solidFill>
                <a:latin typeface="DM Sans"/>
              </a:rPr>
              <a:t>Bedarfe entstehen als Ticket, laufen per E-Mail weiter und werden im ERP erneut erfasst.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4000" y="2232000"/>
            <a:ext cx="10824120" cy="10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4000" y="2232000"/>
            <a:ext cx="57600" cy="1044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6000" y="2430000"/>
            <a:ext cx="1032012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04540"/>
                </a:solidFill>
                <a:latin typeface="DM Sans"/>
              </a:rPr>
              <a:t>Der Prozess hängt an einer Person</a:t>
            </a:r>
          </a:p>
          <a:p>
            <a:pPr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3E5B56"/>
                </a:solidFill>
                <a:latin typeface="DM Sans"/>
              </a:rPr>
              <a:t>Bestellung und Rechnungsfreigabe laufen allein über Herrn Pichler, im Urlaub bleibt alles liegen.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4000" y="3492000"/>
            <a:ext cx="10824120" cy="10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4000" y="3492000"/>
            <a:ext cx="57600" cy="1044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6000" y="3690000"/>
            <a:ext cx="1032012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04540"/>
                </a:solidFill>
                <a:latin typeface="DM Sans"/>
              </a:rPr>
              <a:t>Kein Audit-Trail für Nachweispflichten</a:t>
            </a:r>
          </a:p>
          <a:p>
            <a:pPr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3E5B56"/>
                </a:solidFill>
                <a:latin typeface="DM Sans"/>
              </a:rPr>
              <a:t>Wer wann was bestellt und freigegeben hat, ist nachträglich nicht belegbar.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4000" y="4752000"/>
            <a:ext cx="10824120" cy="10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4000" y="4752000"/>
            <a:ext cx="57600" cy="1044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6000" y="4950000"/>
            <a:ext cx="1032012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04540"/>
                </a:solidFill>
                <a:latin typeface="DM Sans"/>
              </a:rPr>
              <a:t>Sieben Gesellschaften, kein gemeinsamer Standard</a:t>
            </a:r>
          </a:p>
          <a:p>
            <a:pPr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3E5B56"/>
                </a:solidFill>
                <a:latin typeface="DM Sans"/>
              </a:rPr>
              <a:t>Deutschland und Österreich arbeiten unterschiedlich, Verträge liegen nicht systematisch ab.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4000" y="576000"/>
            <a:ext cx="10824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28C7D"/>
                </a:solidFill>
                <a:latin typeface="DM Sans"/>
              </a:rPr>
              <a:t>IMPACT LADDER, EBENE 1 UND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4000" y="972000"/>
            <a:ext cx="5268060" cy="53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4000" y="972000"/>
            <a:ext cx="57600" cy="5310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6000" y="1224000"/>
            <a:ext cx="396000" cy="396000"/>
          </a:xfrm>
          <a:prstGeom prst="roundRect">
            <a:avLst>
              <a:gd name="adj" fmla="val 6000"/>
            </a:avLst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1FF45"/>
                </a:solidFill>
                <a:latin typeface="DM San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40000" y="1260000"/>
            <a:ext cx="4260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4540"/>
                </a:solidFill>
                <a:latin typeface="Frank Ruhl Libre"/>
              </a:rPr>
              <a:t>Mitarbeitende / Bedarfsträger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6000" y="1980000"/>
            <a:ext cx="4764060" cy="343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Bedarfe werden strukturiert und vollständig erfasst, statt als Jira-Ticket und E-Mail (Intake Agent).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Anfragen und Freigaben laufen direkt in Microsoft Teams, der Status ist jederzeit sichtbar (MS Teams Agent, Status Agent).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6000" y="5490000"/>
            <a:ext cx="792000" cy="252000"/>
          </a:xfrm>
          <a:prstGeom prst="roundRect">
            <a:avLst>
              <a:gd name="adj" fmla="val 6000"/>
            </a:avLst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204540"/>
                </a:solidFill>
                <a:latin typeface="DM Sans"/>
              </a:rPr>
              <a:t>IMPACT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36000" y="5472000"/>
            <a:ext cx="3828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E5B56"/>
                </a:solidFill>
                <a:latin typeface="DM Sans"/>
              </a:rPr>
              <a:t>Auch wer selten bestellt, findet den Weg ohne Schulung und ohne Rückfragen.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0060" y="972000"/>
            <a:ext cx="5268060" cy="53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0060" y="972000"/>
            <a:ext cx="57600" cy="5310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060" y="1224000"/>
            <a:ext cx="396000" cy="396000"/>
          </a:xfrm>
          <a:prstGeom prst="roundRect">
            <a:avLst>
              <a:gd name="adj" fmla="val 6000"/>
            </a:avLst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1FF45"/>
                </a:solidFill>
                <a:latin typeface="DM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6060" y="1260000"/>
            <a:ext cx="4260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4540"/>
                </a:solidFill>
                <a:latin typeface="Frank Ruhl Libre"/>
              </a:rPr>
              <a:t>Einkauf / Administration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060" y="1980000"/>
            <a:ext cx="4764060" cy="343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Freigaben regelbasiert nach Betrag, Warengruppe und Gesellschaft, mit konfigurierbarer Vertretung (Approval Agent).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Verträge zentral hinterlegt, mit Erinnerung an Verlängerung und Kündigungsfrist (Contract Agent).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060" y="5490000"/>
            <a:ext cx="792000" cy="252000"/>
          </a:xfrm>
          <a:prstGeom prst="roundRect">
            <a:avLst>
              <a:gd name="adj" fmla="val 6000"/>
            </a:avLst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204540"/>
                </a:solidFill>
                <a:latin typeface="DM Sans"/>
              </a:rPr>
              <a:t>IMPACT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92060" y="5472000"/>
            <a:ext cx="3828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E5B56"/>
                </a:solidFill>
                <a:latin typeface="DM Sans"/>
              </a:rPr>
              <a:t>Die täglichen ein bis zwei Stunden Handarbeit entfallen, der Prozess läuft auch im Urlaub weiter.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4000" y="576000"/>
            <a:ext cx="10824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28C7D"/>
                </a:solidFill>
                <a:latin typeface="DM Sans"/>
              </a:rPr>
              <a:t>IMPACT LADDER, EBENE 3 UND 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4000" y="972000"/>
            <a:ext cx="5268060" cy="53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4000" y="972000"/>
            <a:ext cx="57600" cy="5310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6000" y="1224000"/>
            <a:ext cx="396000" cy="396000"/>
          </a:xfrm>
          <a:prstGeom prst="roundRect">
            <a:avLst>
              <a:gd name="adj" fmla="val 6000"/>
            </a:avLst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1FF45"/>
                </a:solidFill>
                <a:latin typeface="DM Sans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40000" y="1260000"/>
            <a:ext cx="4260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4540"/>
                </a:solidFill>
                <a:latin typeface="Frank Ruhl Libre"/>
              </a:rPr>
              <a:t>Finance / Controlling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6000" y="1980000"/>
            <a:ext cx="4764060" cy="343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Kostenstelle, Warengruppe und Sachkonto werden bereits bei der Anforderung vorbelegt (Category Agent, Accounting Agent).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Bestellungen entstehen in Business Central, Rechnungen werden automatisch zugeordnet, wiederkehrende Positionen laufen ohne Handgriff (Invoice Agent).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6000" y="5490000"/>
            <a:ext cx="792000" cy="252000"/>
          </a:xfrm>
          <a:prstGeom prst="roundRect">
            <a:avLst>
              <a:gd name="adj" fmla="val 6000"/>
            </a:avLst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204540"/>
                </a:solidFill>
                <a:latin typeface="DM Sans"/>
              </a:rPr>
              <a:t>IMPACT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36000" y="5472000"/>
            <a:ext cx="3828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E5B56"/>
                </a:solidFill>
                <a:latin typeface="DM Sans"/>
              </a:rPr>
              <a:t>Der Medienbruch zum ERP verschwindet, auch bei Rechnungen mit bis zu 300 Positionen.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0060" y="972000"/>
            <a:ext cx="5268060" cy="53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0060" y="972000"/>
            <a:ext cx="57600" cy="5310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060" y="1224000"/>
            <a:ext cx="396000" cy="396000"/>
          </a:xfrm>
          <a:prstGeom prst="roundRect">
            <a:avLst>
              <a:gd name="adj" fmla="val 6000"/>
            </a:avLst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1FF45"/>
                </a:solidFill>
                <a:latin typeface="DM Sans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6060" y="1260000"/>
            <a:ext cx="4260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4540"/>
                </a:solidFill>
                <a:latin typeface="Frank Ruhl Libre"/>
              </a:rPr>
              <a:t>Geschäftsführung / Management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060" y="1980000"/>
            <a:ext cx="4764060" cy="343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Ein Standard und eine Auswertung über alle sieben Gesellschaften in Deutschland und Österreich (Analytics Agent).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Vollständiger Audit-Trail für ISO 27001, DSGVO und die Nachweispflichten im Bankenumfeld (Compliance Agent).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060" y="5490000"/>
            <a:ext cx="792000" cy="252000"/>
          </a:xfrm>
          <a:prstGeom prst="roundRect">
            <a:avLst>
              <a:gd name="adj" fmla="val 6000"/>
            </a:avLst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204540"/>
                </a:solidFill>
                <a:latin typeface="DM Sans"/>
              </a:rPr>
              <a:t>IMPACT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92060" y="5472000"/>
            <a:ext cx="3828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E5B56"/>
                </a:solidFill>
                <a:latin typeface="DM Sans"/>
              </a:rPr>
              <a:t>Nachweise sind auf Knopfdruck belegbar, der Einkauf ist nicht länger von einer Person abhängig.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4000" y="576000"/>
            <a:ext cx="10824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28C7D"/>
                </a:solidFill>
                <a:latin typeface="DM Sans"/>
              </a:rPr>
              <a:t>EXECUTIVE SUMMARY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4000" y="972000"/>
            <a:ext cx="10824120" cy="1584000"/>
          </a:xfrm>
          <a:prstGeom prst="roundRect">
            <a:avLst>
              <a:gd name="adj" fmla="val 6000"/>
            </a:avLst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4000" y="972000"/>
            <a:ext cx="72000" cy="1584000"/>
          </a:xfrm>
          <a:prstGeom prst="rect">
            <a:avLst/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4000" y="1260000"/>
            <a:ext cx="10104120" cy="10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Frank Ruhl Libre"/>
              </a:rPr>
              <a:t>Hivebuy löst die manuelle Kette aus Ticket, E-Mail und ERP-Nacherfassung auf, macht Freigaben und Vertretungen digital nachvollziehbar und schafft über die Business-Central-Anbindung einen gemeinsamen Standard für alle sieben Gesellschaften.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4000" y="2844000"/>
            <a:ext cx="519606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28C7D"/>
                </a:solidFill>
                <a:latin typeface="DM Sans"/>
              </a:rPr>
              <a:t>ZAHLENBASIS AUS DEM 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4000" y="3168000"/>
            <a:ext cx="5196060" cy="165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ca. 300 bis 350 Mitarbeitende, 7 Gesellschaften (belegt)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ca. 100 bis 150 künftige Nutzer im System (belegt)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ca. 1 bis 2 Stunden manuelle Einkaufsarbeit pro Tag (belegt)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ERP Microsoft Dynamics 365 Business Central, Ticketsystem Jira (belegt)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Rechnungen mit bis zu 300 Positionen, ca. 20 davon variabel (belegt)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12060" y="2844000"/>
            <a:ext cx="519606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28C7D"/>
                </a:solidFill>
                <a:latin typeface="DM Sans"/>
              </a:rPr>
              <a:t>ANNAHMEN UND OFFENE PUNKTE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2060" y="3168000"/>
            <a:ext cx="5196060" cy="165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Anzahl der Bestellungen pro Monat wurde nicht genannt.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Der finale Entscheider in der Geschäftsleitung ist nicht benannt.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Der Zeitpunkt für die Einbindung Österreichs ist offen.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Der Aufwand der IT für Schnittstelle und SSO ist nicht geschätzt.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4000" y="5706000"/>
            <a:ext cx="10824120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2000" y="5904000"/>
            <a:ext cx="758412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04540"/>
                </a:solidFill>
                <a:latin typeface="DM Sans"/>
              </a:rPr>
              <a:t>Im Folgetermin am 3. September gehen wir Testzugang, Angebot und die Einbindung Ihrer IT gemeinsam durch.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88120" y="5868000"/>
            <a:ext cx="2232000" cy="360000"/>
          </a:xfrm>
          <a:prstGeom prst="roundRect">
            <a:avLst>
              <a:gd name="adj" fmla="val 6000"/>
            </a:avLst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04540"/>
                </a:solidFill>
                <a:latin typeface="DM Sans"/>
                <a:hlinkClick r:id="rId2"/>
              </a:rPr>
              <a:t>Folgetermin vereinbaren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